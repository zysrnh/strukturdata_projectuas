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Helvetica World Bold" charset="1" panose="020B0800040000020004"/>
      <p:regular r:id="rId24"/>
    </p:embeddedFont>
    <p:embeddedFont>
      <p:font typeface="Helvetica World" charset="1" panose="020B05000400000200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pn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3.png" Type="http://schemas.openxmlformats.org/officeDocument/2006/relationships/image"/><Relationship Id="rId5" Target="../embeddings/oleObject1.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TextBox 2" id="2"/>
          <p:cNvSpPr txBox="true"/>
          <p:nvPr/>
        </p:nvSpPr>
        <p:spPr>
          <a:xfrm rot="0">
            <a:off x="1268082" y="680100"/>
            <a:ext cx="3416127" cy="567848"/>
          </a:xfrm>
          <a:prstGeom prst="rect">
            <a:avLst/>
          </a:prstGeom>
        </p:spPr>
        <p:txBody>
          <a:bodyPr anchor="t" rtlCol="false" tIns="0" lIns="0" bIns="0" rIns="0">
            <a:spAutoFit/>
          </a:bodyPr>
          <a:lstStyle/>
          <a:p>
            <a:pPr algn="l">
              <a:lnSpc>
                <a:spcPts val="3746"/>
              </a:lnSpc>
            </a:pPr>
            <a:r>
              <a:rPr lang="en-US" sz="4306" spc="-189" b="true">
                <a:solidFill>
                  <a:srgbClr val="000000"/>
                </a:solidFill>
                <a:latin typeface="Helvetica World Bold"/>
                <a:ea typeface="Helvetica World Bold"/>
                <a:cs typeface="Helvetica World Bold"/>
                <a:sym typeface="Helvetica World Bold"/>
              </a:rPr>
              <a:t>Struktur Data</a:t>
            </a:r>
          </a:p>
        </p:txBody>
      </p:sp>
      <p:sp>
        <p:nvSpPr>
          <p:cNvPr name="Freeform 3" id="3"/>
          <p:cNvSpPr/>
          <p:nvPr/>
        </p:nvSpPr>
        <p:spPr>
          <a:xfrm flipH="false" flipV="false" rot="0">
            <a:off x="-5626869" y="1028700"/>
            <a:ext cx="20885479" cy="13138865"/>
          </a:xfrm>
          <a:custGeom>
            <a:avLst/>
            <a:gdLst/>
            <a:ahLst/>
            <a:cxnLst/>
            <a:rect r="r" b="b" t="t" l="l"/>
            <a:pathLst>
              <a:path h="13138865" w="20885479">
                <a:moveTo>
                  <a:pt x="0" y="0"/>
                </a:moveTo>
                <a:lnTo>
                  <a:pt x="20885479" y="0"/>
                </a:lnTo>
                <a:lnTo>
                  <a:pt x="20885479" y="13138865"/>
                </a:lnTo>
                <a:lnTo>
                  <a:pt x="0" y="13138865"/>
                </a:lnTo>
                <a:lnTo>
                  <a:pt x="0" y="0"/>
                </a:lnTo>
                <a:close/>
              </a:path>
            </a:pathLst>
          </a:custGeom>
          <a:blipFill>
            <a:blip r:embed="rId2"/>
            <a:stretch>
              <a:fillRect l="0" t="0" r="0" b="0"/>
            </a:stretch>
          </a:blipFill>
        </p:spPr>
      </p:sp>
      <p:sp>
        <p:nvSpPr>
          <p:cNvPr name="TextBox 4" id="4"/>
          <p:cNvSpPr txBox="true"/>
          <p:nvPr/>
        </p:nvSpPr>
        <p:spPr>
          <a:xfrm rot="0">
            <a:off x="672876" y="2967205"/>
            <a:ext cx="9543195" cy="3983288"/>
          </a:xfrm>
          <a:prstGeom prst="rect">
            <a:avLst/>
          </a:prstGeom>
        </p:spPr>
        <p:txBody>
          <a:bodyPr anchor="t" rtlCol="false" tIns="0" lIns="0" bIns="0" rIns="0">
            <a:spAutoFit/>
          </a:bodyPr>
          <a:lstStyle/>
          <a:p>
            <a:pPr algn="l">
              <a:lnSpc>
                <a:spcPts val="8759"/>
              </a:lnSpc>
            </a:pPr>
            <a:r>
              <a:rPr lang="en-US" sz="11998" spc="-527" b="true">
                <a:solidFill>
                  <a:srgbClr val="000000"/>
                </a:solidFill>
                <a:latin typeface="Helvetica World Bold"/>
                <a:ea typeface="Helvetica World Bold"/>
                <a:cs typeface="Helvetica World Bold"/>
                <a:sym typeface="Helvetica World Bold"/>
              </a:rPr>
              <a:t>Aplikasi Kamus Digi</a:t>
            </a:r>
            <a:r>
              <a:rPr lang="en-US" b="true" sz="11998" spc="-527">
                <a:solidFill>
                  <a:srgbClr val="000000"/>
                </a:solidFill>
                <a:latin typeface="Helvetica World Bold"/>
                <a:ea typeface="Helvetica World Bold"/>
                <a:cs typeface="Helvetica World Bold"/>
                <a:sym typeface="Helvetica World Bold"/>
              </a:rPr>
              <a:t>tal</a:t>
            </a:r>
          </a:p>
          <a:p>
            <a:pPr algn="l" marL="0" indent="0" lvl="0">
              <a:lnSpc>
                <a:spcPts val="8759"/>
              </a:lnSpc>
            </a:pPr>
            <a:r>
              <a:rPr lang="en-US" b="true" sz="11998" spc="-527">
                <a:solidFill>
                  <a:srgbClr val="000000"/>
                </a:solidFill>
                <a:latin typeface="Helvetica World Bold"/>
                <a:ea typeface="Helvetica World Bold"/>
                <a:cs typeface="Helvetica World Bold"/>
                <a:sym typeface="Helvetica World Bold"/>
              </a:rPr>
              <a:t>Multilingual</a:t>
            </a:r>
          </a:p>
        </p:txBody>
      </p:sp>
      <p:sp>
        <p:nvSpPr>
          <p:cNvPr name="TextBox 5" id="5"/>
          <p:cNvSpPr txBox="true"/>
          <p:nvPr/>
        </p:nvSpPr>
        <p:spPr>
          <a:xfrm rot="0">
            <a:off x="16886610" y="9344025"/>
            <a:ext cx="728514"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01/18</a:t>
            </a:r>
          </a:p>
        </p:txBody>
      </p:sp>
      <p:sp>
        <p:nvSpPr>
          <p:cNvPr name="TextBox 6" id="6"/>
          <p:cNvSpPr txBox="true"/>
          <p:nvPr/>
        </p:nvSpPr>
        <p:spPr>
          <a:xfrm rot="0">
            <a:off x="663351" y="8343140"/>
            <a:ext cx="4142994" cy="310134"/>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Kelompok 11:</a:t>
            </a:r>
          </a:p>
        </p:txBody>
      </p:sp>
      <p:sp>
        <p:nvSpPr>
          <p:cNvPr name="Freeform 7" id="7"/>
          <p:cNvSpPr/>
          <p:nvPr/>
        </p:nvSpPr>
        <p:spPr>
          <a:xfrm flipH="false" flipV="false" rot="0">
            <a:off x="696502" y="723224"/>
            <a:ext cx="381235" cy="394134"/>
          </a:xfrm>
          <a:custGeom>
            <a:avLst/>
            <a:gdLst/>
            <a:ahLst/>
            <a:cxnLst/>
            <a:rect r="r" b="b" t="t" l="l"/>
            <a:pathLst>
              <a:path h="394134" w="381235">
                <a:moveTo>
                  <a:pt x="0" y="0"/>
                </a:moveTo>
                <a:lnTo>
                  <a:pt x="381235" y="0"/>
                </a:lnTo>
                <a:lnTo>
                  <a:pt x="381235" y="394134"/>
                </a:lnTo>
                <a:lnTo>
                  <a:pt x="0" y="39413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16899339" y="670808"/>
            <a:ext cx="715784" cy="715784"/>
          </a:xfrm>
          <a:custGeom>
            <a:avLst/>
            <a:gdLst/>
            <a:ahLst/>
            <a:cxnLst/>
            <a:rect r="r" b="b" t="t" l="l"/>
            <a:pathLst>
              <a:path h="715784" w="715784">
                <a:moveTo>
                  <a:pt x="0" y="0"/>
                </a:moveTo>
                <a:lnTo>
                  <a:pt x="715785" y="0"/>
                </a:lnTo>
                <a:lnTo>
                  <a:pt x="715785" y="715784"/>
                </a:lnTo>
                <a:lnTo>
                  <a:pt x="0" y="7157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696502" y="1200323"/>
            <a:ext cx="3893905" cy="312420"/>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Dayanni Vera Versanika, S.T., M.Kom</a:t>
            </a:r>
          </a:p>
        </p:txBody>
      </p:sp>
      <p:sp>
        <p:nvSpPr>
          <p:cNvPr name="TextBox 10" id="10"/>
          <p:cNvSpPr txBox="true"/>
          <p:nvPr/>
        </p:nvSpPr>
        <p:spPr>
          <a:xfrm rot="0">
            <a:off x="672876" y="8719949"/>
            <a:ext cx="4517199" cy="645795"/>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ZAKI YUSRON HASYIMMI - 250414010</a:t>
            </a:r>
          </a:p>
          <a:p>
            <a:pPr algn="l">
              <a:lnSpc>
                <a:spcPts val="2699"/>
              </a:lnSpc>
            </a:pPr>
            <a:r>
              <a:rPr lang="en-US" sz="1799">
                <a:solidFill>
                  <a:srgbClr val="000000"/>
                </a:solidFill>
                <a:latin typeface="Helvetica World"/>
                <a:ea typeface="Helvetica World"/>
                <a:cs typeface="Helvetica World"/>
                <a:sym typeface="Helvetica World"/>
              </a:rPr>
              <a:t>RENJIRO MULYAWISESA - 250414038</a:t>
            </a:r>
          </a:p>
        </p:txBody>
      </p:sp>
      <p:sp>
        <p:nvSpPr>
          <p:cNvPr name="TextBox 11" id="11"/>
          <p:cNvSpPr txBox="true"/>
          <p:nvPr/>
        </p:nvSpPr>
        <p:spPr>
          <a:xfrm rot="0">
            <a:off x="6009946" y="8719949"/>
            <a:ext cx="4517199" cy="645795"/>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RASYA HILALUN NADHIR - 250414040</a:t>
            </a:r>
          </a:p>
          <a:p>
            <a:pPr algn="l">
              <a:lnSpc>
                <a:spcPts val="2699"/>
              </a:lnSpc>
            </a:pPr>
            <a:r>
              <a:rPr lang="en-US" sz="1799">
                <a:solidFill>
                  <a:srgbClr val="000000"/>
                </a:solidFill>
                <a:latin typeface="Helvetica World"/>
                <a:ea typeface="Helvetica World"/>
                <a:cs typeface="Helvetica World"/>
                <a:sym typeface="Helvetica World"/>
              </a:rPr>
              <a:t>AGNA ARYAPUTRA RAHMAN - 250414019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Freeform 2" id="2"/>
          <p:cNvSpPr/>
          <p:nvPr/>
        </p:nvSpPr>
        <p:spPr>
          <a:xfrm flipH="true" flipV="false" rot="0">
            <a:off x="8264503" y="2886797"/>
            <a:ext cx="20885479" cy="13138865"/>
          </a:xfrm>
          <a:custGeom>
            <a:avLst/>
            <a:gdLst/>
            <a:ahLst/>
            <a:cxnLst/>
            <a:rect r="r" b="b" t="t" l="l"/>
            <a:pathLst>
              <a:path h="13138865" w="20885479">
                <a:moveTo>
                  <a:pt x="20885478" y="0"/>
                </a:moveTo>
                <a:lnTo>
                  <a:pt x="0" y="0"/>
                </a:lnTo>
                <a:lnTo>
                  <a:pt x="0" y="13138865"/>
                </a:lnTo>
                <a:lnTo>
                  <a:pt x="20885478" y="13138865"/>
                </a:lnTo>
                <a:lnTo>
                  <a:pt x="20885478" y="0"/>
                </a:lnTo>
                <a:close/>
              </a:path>
            </a:pathLst>
          </a:custGeom>
          <a:blipFill>
            <a:blip r:embed="rId2"/>
            <a:stretch>
              <a:fillRect l="0" t="0" r="0" b="0"/>
            </a:stretch>
          </a:blipFill>
        </p:spPr>
      </p:sp>
      <p:sp>
        <p:nvSpPr>
          <p:cNvPr name="TextBox 3" id="3"/>
          <p:cNvSpPr txBox="true"/>
          <p:nvPr/>
        </p:nvSpPr>
        <p:spPr>
          <a:xfrm rot="0">
            <a:off x="923925" y="2446281"/>
            <a:ext cx="10319213" cy="1500505"/>
          </a:xfrm>
          <a:prstGeom prst="rect">
            <a:avLst/>
          </a:prstGeom>
        </p:spPr>
        <p:txBody>
          <a:bodyPr anchor="t" rtlCol="false" tIns="0" lIns="0" bIns="0" rIns="0">
            <a:spAutoFit/>
          </a:bodyPr>
          <a:lstStyle/>
          <a:p>
            <a:pPr algn="l">
              <a:lnSpc>
                <a:spcPts val="9360"/>
              </a:lnSpc>
            </a:pPr>
            <a:r>
              <a:rPr lang="en-US" b="true" sz="12000" spc="-527">
                <a:solidFill>
                  <a:srgbClr val="000000"/>
                </a:solidFill>
                <a:latin typeface="Helvetica World Bold"/>
                <a:ea typeface="Helvetica World Bold"/>
                <a:cs typeface="Helvetica World Bold"/>
                <a:sym typeface="Helvetica World Bold"/>
              </a:rPr>
              <a:t>Latar B</a:t>
            </a:r>
            <a:r>
              <a:rPr lang="en-US" b="true" sz="12000" spc="-527">
                <a:solidFill>
                  <a:srgbClr val="000000"/>
                </a:solidFill>
                <a:latin typeface="Helvetica World Bold"/>
                <a:ea typeface="Helvetica World Bold"/>
                <a:cs typeface="Helvetica World Bold"/>
                <a:sym typeface="Helvetica World Bold"/>
              </a:rPr>
              <a:t>elakang</a:t>
            </a:r>
          </a:p>
        </p:txBody>
      </p:sp>
      <p:sp>
        <p:nvSpPr>
          <p:cNvPr name="TextBox 4" id="4"/>
          <p:cNvSpPr txBox="true"/>
          <p:nvPr/>
        </p:nvSpPr>
        <p:spPr>
          <a:xfrm rot="0">
            <a:off x="8083059" y="5614126"/>
            <a:ext cx="4531364" cy="1645920"/>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Oleh ka</a:t>
            </a:r>
            <a:r>
              <a:rPr lang="en-US" sz="1799">
                <a:solidFill>
                  <a:srgbClr val="000000"/>
                </a:solidFill>
                <a:latin typeface="Helvetica World"/>
                <a:ea typeface="Helvetica World"/>
                <a:cs typeface="Helvetica World"/>
                <a:sym typeface="Helvetica World"/>
              </a:rPr>
              <a:t>rena itu, dikembangkan aplikasi Kamus Digital Multilingual berbasis Python dengan memanfaatkan Trie, Hash Table, dan Doubly Linked List untuk meningkatkan kecepatan dan kemudahan pencarian kata.</a:t>
            </a:r>
          </a:p>
        </p:txBody>
      </p:sp>
      <p:sp>
        <p:nvSpPr>
          <p:cNvPr name="TextBox 5" id="5"/>
          <p:cNvSpPr txBox="true"/>
          <p:nvPr/>
        </p:nvSpPr>
        <p:spPr>
          <a:xfrm rot="0">
            <a:off x="8083059" y="7572626"/>
            <a:ext cx="4531364" cy="310134"/>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Solusi</a:t>
            </a:r>
          </a:p>
        </p:txBody>
      </p:sp>
      <p:sp>
        <p:nvSpPr>
          <p:cNvPr name="TextBox 6" id="6"/>
          <p:cNvSpPr txBox="true"/>
          <p:nvPr/>
        </p:nvSpPr>
        <p:spPr>
          <a:xfrm rot="0">
            <a:off x="13196364" y="9344025"/>
            <a:ext cx="4418760"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strike="noStrike" u="none">
                <a:solidFill>
                  <a:srgbClr val="000000"/>
                </a:solidFill>
                <a:latin typeface="Helvetica World Bold"/>
                <a:ea typeface="Helvetica World Bold"/>
                <a:cs typeface="Helvetica World Bold"/>
                <a:sym typeface="Helvetica World Bold"/>
              </a:rPr>
              <a:t>02</a:t>
            </a:r>
            <a:r>
              <a:rPr lang="en-US" b="true" sz="2400" spc="-105" strike="noStrike" u="none">
                <a:solidFill>
                  <a:srgbClr val="000000"/>
                </a:solidFill>
                <a:latin typeface="Helvetica World Bold"/>
                <a:ea typeface="Helvetica World Bold"/>
                <a:cs typeface="Helvetica World Bold"/>
                <a:sym typeface="Helvetica World Bold"/>
              </a:rPr>
              <a:t>/18</a:t>
            </a:r>
          </a:p>
        </p:txBody>
      </p:sp>
      <p:sp>
        <p:nvSpPr>
          <p:cNvPr name="Freeform 7" id="7"/>
          <p:cNvSpPr/>
          <p:nvPr/>
        </p:nvSpPr>
        <p:spPr>
          <a:xfrm flipH="false" flipV="false" rot="0">
            <a:off x="16899339" y="670808"/>
            <a:ext cx="715784" cy="715784"/>
          </a:xfrm>
          <a:custGeom>
            <a:avLst/>
            <a:gdLst/>
            <a:ahLst/>
            <a:cxnLst/>
            <a:rect r="r" b="b" t="t" l="l"/>
            <a:pathLst>
              <a:path h="715784" w="715784">
                <a:moveTo>
                  <a:pt x="0" y="0"/>
                </a:moveTo>
                <a:lnTo>
                  <a:pt x="715785" y="0"/>
                </a:lnTo>
                <a:lnTo>
                  <a:pt x="715785" y="715784"/>
                </a:lnTo>
                <a:lnTo>
                  <a:pt x="0" y="715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028700" y="5614126"/>
            <a:ext cx="5505992" cy="1645920"/>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Indonesia memiliki banyak bahasa daerah, sementara Bahasa Inggris menjadi bahasa internasional yang banyak digunakan. Namun, kamus digital yang ada umumnya masih bersifat bilingual dan belum memiliki fitur pencarian yang cepat serta efisien. </a:t>
            </a:r>
          </a:p>
        </p:txBody>
      </p:sp>
      <p:sp>
        <p:nvSpPr>
          <p:cNvPr name="TextBox 9" id="9"/>
          <p:cNvSpPr txBox="true"/>
          <p:nvPr/>
        </p:nvSpPr>
        <p:spPr>
          <a:xfrm rot="0">
            <a:off x="1028700" y="7572626"/>
            <a:ext cx="4077754" cy="310134"/>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Lata</a:t>
            </a:r>
            <a:r>
              <a:rPr lang="en-US" b="true" sz="2400" spc="-105" strike="noStrike" u="none">
                <a:solidFill>
                  <a:srgbClr val="000000"/>
                </a:solidFill>
                <a:latin typeface="Helvetica World Bold"/>
                <a:ea typeface="Helvetica World Bold"/>
                <a:cs typeface="Helvetica World Bold"/>
                <a:sym typeface="Helvetica World Bold"/>
              </a:rPr>
              <a:t>r Be</a:t>
            </a:r>
            <a:r>
              <a:rPr lang="en-US" b="true" sz="2400" spc="-105" strike="noStrike" u="none">
                <a:solidFill>
                  <a:srgbClr val="000000"/>
                </a:solidFill>
                <a:latin typeface="Helvetica World Bold"/>
                <a:ea typeface="Helvetica World Bold"/>
                <a:cs typeface="Helvetica World Bold"/>
                <a:sym typeface="Helvetica World Bold"/>
              </a:rPr>
              <a:t>l</a:t>
            </a:r>
            <a:r>
              <a:rPr lang="en-US" b="true" sz="2400" spc="-105" strike="noStrike" u="none">
                <a:solidFill>
                  <a:srgbClr val="000000"/>
                </a:solidFill>
                <a:latin typeface="Helvetica World Bold"/>
                <a:ea typeface="Helvetica World Bold"/>
                <a:cs typeface="Helvetica World Bold"/>
                <a:sym typeface="Helvetica World Bold"/>
              </a:rPr>
              <a:t>akang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Freeform 2" id="2"/>
          <p:cNvSpPr/>
          <p:nvPr/>
        </p:nvSpPr>
        <p:spPr>
          <a:xfrm flipH="false" flipV="false" rot="-4132837">
            <a:off x="10543899" y="-1425932"/>
            <a:ext cx="20885479" cy="13138865"/>
          </a:xfrm>
          <a:custGeom>
            <a:avLst/>
            <a:gdLst/>
            <a:ahLst/>
            <a:cxnLst/>
            <a:rect r="r" b="b" t="t" l="l"/>
            <a:pathLst>
              <a:path h="13138865" w="20885479">
                <a:moveTo>
                  <a:pt x="0" y="0"/>
                </a:moveTo>
                <a:lnTo>
                  <a:pt x="20885479" y="0"/>
                </a:lnTo>
                <a:lnTo>
                  <a:pt x="20885479" y="13138864"/>
                </a:lnTo>
                <a:lnTo>
                  <a:pt x="0" y="13138864"/>
                </a:lnTo>
                <a:lnTo>
                  <a:pt x="0" y="0"/>
                </a:lnTo>
                <a:close/>
              </a:path>
            </a:pathLst>
          </a:custGeom>
          <a:blipFill>
            <a:blip r:embed="rId2"/>
            <a:stretch>
              <a:fillRect l="0" t="0" r="0" b="0"/>
            </a:stretch>
          </a:blipFill>
        </p:spPr>
      </p:sp>
      <p:sp>
        <p:nvSpPr>
          <p:cNvPr name="TextBox 3" id="3"/>
          <p:cNvSpPr txBox="true"/>
          <p:nvPr/>
        </p:nvSpPr>
        <p:spPr>
          <a:xfrm rot="0">
            <a:off x="15246326" y="9344025"/>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03/18</a:t>
            </a:r>
          </a:p>
        </p:txBody>
      </p:sp>
      <p:sp>
        <p:nvSpPr>
          <p:cNvPr name="Freeform 4" id="4"/>
          <p:cNvSpPr/>
          <p:nvPr/>
        </p:nvSpPr>
        <p:spPr>
          <a:xfrm flipH="false" flipV="false" rot="0">
            <a:off x="16899339" y="670808"/>
            <a:ext cx="715784" cy="715784"/>
          </a:xfrm>
          <a:custGeom>
            <a:avLst/>
            <a:gdLst/>
            <a:ahLst/>
            <a:cxnLst/>
            <a:rect r="r" b="b" t="t" l="l"/>
            <a:pathLst>
              <a:path h="715784" w="715784">
                <a:moveTo>
                  <a:pt x="0" y="0"/>
                </a:moveTo>
                <a:lnTo>
                  <a:pt x="715785" y="0"/>
                </a:lnTo>
                <a:lnTo>
                  <a:pt x="715785" y="715784"/>
                </a:lnTo>
                <a:lnTo>
                  <a:pt x="0" y="715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5871444"/>
            <a:ext cx="155488" cy="160749"/>
          </a:xfrm>
          <a:custGeom>
            <a:avLst/>
            <a:gdLst/>
            <a:ahLst/>
            <a:cxnLst/>
            <a:rect r="r" b="b" t="t" l="l"/>
            <a:pathLst>
              <a:path h="160749" w="155488">
                <a:moveTo>
                  <a:pt x="0" y="0"/>
                </a:moveTo>
                <a:lnTo>
                  <a:pt x="155488" y="0"/>
                </a:lnTo>
                <a:lnTo>
                  <a:pt x="155488" y="160749"/>
                </a:lnTo>
                <a:lnTo>
                  <a:pt x="0" y="1607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286738" y="1978456"/>
            <a:ext cx="8284524" cy="1945997"/>
          </a:xfrm>
          <a:prstGeom prst="rect">
            <a:avLst/>
          </a:prstGeom>
        </p:spPr>
        <p:txBody>
          <a:bodyPr anchor="t" rtlCol="false" tIns="0" lIns="0" bIns="0" rIns="0">
            <a:spAutoFit/>
          </a:bodyPr>
          <a:lstStyle/>
          <a:p>
            <a:pPr algn="l">
              <a:lnSpc>
                <a:spcPts val="6310"/>
              </a:lnSpc>
            </a:pPr>
            <a:r>
              <a:rPr lang="en-US" b="true" sz="8090" spc="-355">
                <a:solidFill>
                  <a:srgbClr val="000000"/>
                </a:solidFill>
                <a:latin typeface="Helvetica World Bold"/>
                <a:ea typeface="Helvetica World Bold"/>
                <a:cs typeface="Helvetica World Bold"/>
                <a:sym typeface="Helvetica World Bold"/>
              </a:rPr>
              <a:t>Permasalahan yang Diselesaikan</a:t>
            </a:r>
          </a:p>
        </p:txBody>
      </p:sp>
      <p:sp>
        <p:nvSpPr>
          <p:cNvPr name="TextBox 7" id="7"/>
          <p:cNvSpPr txBox="true"/>
          <p:nvPr/>
        </p:nvSpPr>
        <p:spPr>
          <a:xfrm rot="0">
            <a:off x="8026415" y="2484158"/>
            <a:ext cx="851760" cy="307678"/>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01/02</a:t>
            </a:r>
          </a:p>
        </p:txBody>
      </p:sp>
      <p:sp>
        <p:nvSpPr>
          <p:cNvPr name="TextBox 8" id="8"/>
          <p:cNvSpPr txBox="true"/>
          <p:nvPr/>
        </p:nvSpPr>
        <p:spPr>
          <a:xfrm rot="0">
            <a:off x="1343933" y="7677545"/>
            <a:ext cx="3632442" cy="645795"/>
          </a:xfrm>
          <a:prstGeom prst="rect">
            <a:avLst/>
          </a:prstGeom>
        </p:spPr>
        <p:txBody>
          <a:bodyPr anchor="t" rtlCol="false" tIns="0" lIns="0" bIns="0" rIns="0">
            <a:spAutoFit/>
          </a:bodyPr>
          <a:lstStyle/>
          <a:p>
            <a:pPr algn="l">
              <a:lnSpc>
                <a:spcPts val="2699"/>
              </a:lnSpc>
              <a:spcBef>
                <a:spcPct val="0"/>
              </a:spcBef>
            </a:pPr>
            <a:r>
              <a:rPr lang="en-US" sz="1799">
                <a:solidFill>
                  <a:srgbClr val="000000"/>
                </a:solidFill>
                <a:latin typeface="Helvetica World"/>
                <a:ea typeface="Helvetica World"/>
                <a:cs typeface="Helvetica World"/>
                <a:sym typeface="Helvetica World"/>
              </a:rPr>
              <a:t>K</a:t>
            </a:r>
            <a:r>
              <a:rPr lang="en-US" sz="1799" strike="noStrike" u="none">
                <a:solidFill>
                  <a:srgbClr val="000000"/>
                </a:solidFill>
                <a:latin typeface="Helvetica World"/>
                <a:ea typeface="Helvetica World"/>
                <a:cs typeface="Helvetica World"/>
                <a:sym typeface="Helvetica World"/>
              </a:rPr>
              <a:t>e</a:t>
            </a:r>
            <a:r>
              <a:rPr lang="en-US" sz="1799" strike="noStrike" u="none">
                <a:solidFill>
                  <a:srgbClr val="000000"/>
                </a:solidFill>
                <a:latin typeface="Helvetica World"/>
                <a:ea typeface="Helvetica World"/>
                <a:cs typeface="Helvetica World"/>
                <a:sym typeface="Helvetica World"/>
              </a:rPr>
              <a:t>salahan</a:t>
            </a:r>
            <a:r>
              <a:rPr lang="en-US" sz="1799" strike="noStrike" u="none">
                <a:solidFill>
                  <a:srgbClr val="000000"/>
                </a:solidFill>
                <a:latin typeface="Helvetica World"/>
                <a:ea typeface="Helvetica World"/>
                <a:cs typeface="Helvetica World"/>
                <a:sym typeface="Helvetica World"/>
              </a:rPr>
              <a:t> pe</a:t>
            </a:r>
            <a:r>
              <a:rPr lang="en-US" sz="1799" strike="noStrike" u="none">
                <a:solidFill>
                  <a:srgbClr val="000000"/>
                </a:solidFill>
                <a:latin typeface="Helvetica World"/>
                <a:ea typeface="Helvetica World"/>
                <a:cs typeface="Helvetica World"/>
                <a:sym typeface="Helvetica World"/>
              </a:rPr>
              <a:t>ng</a:t>
            </a:r>
            <a:r>
              <a:rPr lang="en-US" sz="1799" strike="noStrike" u="none">
                <a:solidFill>
                  <a:srgbClr val="000000"/>
                </a:solidFill>
                <a:latin typeface="Helvetica World"/>
                <a:ea typeface="Helvetica World"/>
                <a:cs typeface="Helvetica World"/>
                <a:sym typeface="Helvetica World"/>
              </a:rPr>
              <a:t>etikan (t</a:t>
            </a:r>
            <a:r>
              <a:rPr lang="en-US" sz="1799" strike="noStrike" u="none">
                <a:solidFill>
                  <a:srgbClr val="000000"/>
                </a:solidFill>
                <a:latin typeface="Helvetica World"/>
                <a:ea typeface="Helvetica World"/>
                <a:cs typeface="Helvetica World"/>
                <a:sym typeface="Helvetica World"/>
              </a:rPr>
              <a:t>yp</a:t>
            </a:r>
            <a:r>
              <a:rPr lang="en-US" sz="1799" strike="noStrike" u="none">
                <a:solidFill>
                  <a:srgbClr val="000000"/>
                </a:solidFill>
                <a:latin typeface="Helvetica World"/>
                <a:ea typeface="Helvetica World"/>
                <a:cs typeface="Helvetica World"/>
                <a:sym typeface="Helvetica World"/>
              </a:rPr>
              <a:t>o</a:t>
            </a:r>
            <a:r>
              <a:rPr lang="en-US" sz="1799" strike="noStrike" u="none">
                <a:solidFill>
                  <a:srgbClr val="000000"/>
                </a:solidFill>
                <a:latin typeface="Helvetica World"/>
                <a:ea typeface="Helvetica World"/>
                <a:cs typeface="Helvetica World"/>
                <a:sym typeface="Helvetica World"/>
              </a:rPr>
              <a:t>) </a:t>
            </a:r>
            <a:r>
              <a:rPr lang="en-US" sz="1799" strike="noStrike" u="none">
                <a:solidFill>
                  <a:srgbClr val="000000"/>
                </a:solidFill>
                <a:latin typeface="Helvetica World"/>
                <a:ea typeface="Helvetica World"/>
                <a:cs typeface="Helvetica World"/>
                <a:sym typeface="Helvetica World"/>
              </a:rPr>
              <a:t>m</a:t>
            </a:r>
            <a:r>
              <a:rPr lang="en-US" sz="1799" strike="noStrike" u="none">
                <a:solidFill>
                  <a:srgbClr val="000000"/>
                </a:solidFill>
                <a:latin typeface="Helvetica World"/>
                <a:ea typeface="Helvetica World"/>
                <a:cs typeface="Helvetica World"/>
                <a:sym typeface="Helvetica World"/>
              </a:rPr>
              <a:t>enyebabkan kata su</a:t>
            </a:r>
            <a:r>
              <a:rPr lang="en-US" sz="1799" strike="noStrike" u="none">
                <a:solidFill>
                  <a:srgbClr val="000000"/>
                </a:solidFill>
                <a:latin typeface="Helvetica World"/>
                <a:ea typeface="Helvetica World"/>
                <a:cs typeface="Helvetica World"/>
                <a:sym typeface="Helvetica World"/>
              </a:rPr>
              <a:t>lit dite</a:t>
            </a:r>
            <a:r>
              <a:rPr lang="en-US" sz="1799" strike="noStrike" u="none">
                <a:solidFill>
                  <a:srgbClr val="000000"/>
                </a:solidFill>
                <a:latin typeface="Helvetica World"/>
                <a:ea typeface="Helvetica World"/>
                <a:cs typeface="Helvetica World"/>
                <a:sym typeface="Helvetica World"/>
              </a:rPr>
              <a:t>mukan</a:t>
            </a:r>
            <a:r>
              <a:rPr lang="en-US" sz="1799" strike="noStrike" u="none">
                <a:solidFill>
                  <a:srgbClr val="000000"/>
                </a:solidFill>
                <a:latin typeface="Helvetica World"/>
                <a:ea typeface="Helvetica World"/>
                <a:cs typeface="Helvetica World"/>
                <a:sym typeface="Helvetica World"/>
              </a:rPr>
              <a:t>.</a:t>
            </a:r>
          </a:p>
        </p:txBody>
      </p:sp>
      <p:sp>
        <p:nvSpPr>
          <p:cNvPr name="TextBox 9" id="9"/>
          <p:cNvSpPr txBox="true"/>
          <p:nvPr/>
        </p:nvSpPr>
        <p:spPr>
          <a:xfrm rot="0">
            <a:off x="1343933" y="4761782"/>
            <a:ext cx="1917700" cy="421640"/>
          </a:xfrm>
          <a:prstGeom prst="rect">
            <a:avLst/>
          </a:prstGeom>
        </p:spPr>
        <p:txBody>
          <a:bodyPr anchor="t" rtlCol="false" tIns="0" lIns="0" bIns="0" rIns="0">
            <a:spAutoFit/>
          </a:bodyPr>
          <a:lstStyle/>
          <a:p>
            <a:pPr algn="l">
              <a:lnSpc>
                <a:spcPts val="3359"/>
              </a:lnSpc>
              <a:spcBef>
                <a:spcPct val="0"/>
              </a:spcBef>
            </a:pPr>
            <a:r>
              <a:rPr lang="en-US" b="true" sz="2400" spc="-105">
                <a:solidFill>
                  <a:srgbClr val="000000"/>
                </a:solidFill>
                <a:latin typeface="Helvetica World Bold"/>
                <a:ea typeface="Helvetica World Bold"/>
                <a:cs typeface="Helvetica World Bold"/>
                <a:sym typeface="Helvetica World Bold"/>
              </a:rPr>
              <a:t>Permasalahan</a:t>
            </a:r>
          </a:p>
        </p:txBody>
      </p:sp>
      <p:sp>
        <p:nvSpPr>
          <p:cNvPr name="TextBox 10" id="10"/>
          <p:cNvSpPr txBox="true"/>
          <p:nvPr/>
        </p:nvSpPr>
        <p:spPr>
          <a:xfrm rot="0">
            <a:off x="1343933" y="5774211"/>
            <a:ext cx="3632442" cy="1312545"/>
          </a:xfrm>
          <a:prstGeom prst="rect">
            <a:avLst/>
          </a:prstGeom>
        </p:spPr>
        <p:txBody>
          <a:bodyPr anchor="t" rtlCol="false" tIns="0" lIns="0" bIns="0" rIns="0">
            <a:spAutoFit/>
          </a:bodyPr>
          <a:lstStyle/>
          <a:p>
            <a:pPr algn="l">
              <a:lnSpc>
                <a:spcPts val="2699"/>
              </a:lnSpc>
              <a:spcBef>
                <a:spcPct val="0"/>
              </a:spcBef>
            </a:pPr>
            <a:r>
              <a:rPr lang="en-US" sz="1799">
                <a:solidFill>
                  <a:srgbClr val="000000"/>
                </a:solidFill>
                <a:latin typeface="Helvetica World"/>
                <a:ea typeface="Helvetica World"/>
                <a:cs typeface="Helvetica World"/>
                <a:sym typeface="Helvetica World"/>
              </a:rPr>
              <a:t>Belum tersedia k</a:t>
            </a:r>
            <a:r>
              <a:rPr lang="en-US" sz="1799">
                <a:solidFill>
                  <a:srgbClr val="000000"/>
                </a:solidFill>
                <a:latin typeface="Helvetica World"/>
                <a:ea typeface="Helvetica World"/>
                <a:cs typeface="Helvetica World"/>
                <a:sym typeface="Helvetica World"/>
              </a:rPr>
              <a:t>amus digital</a:t>
            </a:r>
            <a:r>
              <a:rPr lang="en-US" sz="1799" strike="noStrike" u="none">
                <a:solidFill>
                  <a:srgbClr val="000000"/>
                </a:solidFill>
                <a:latin typeface="Helvetica World"/>
                <a:ea typeface="Helvetica World"/>
                <a:cs typeface="Helvetica World"/>
                <a:sym typeface="Helvetica World"/>
              </a:rPr>
              <a:t> yang mengintegrasikan Bahasa Indonesia, Inggris, dan </a:t>
            </a:r>
            <a:r>
              <a:rPr lang="en-US" sz="1799" strike="noStrike" u="none">
                <a:solidFill>
                  <a:srgbClr val="000000"/>
                </a:solidFill>
                <a:latin typeface="Helvetica World"/>
                <a:ea typeface="Helvetica World"/>
                <a:cs typeface="Helvetica World"/>
                <a:sym typeface="Helvetica World"/>
              </a:rPr>
              <a:t>Sund</a:t>
            </a:r>
            <a:r>
              <a:rPr lang="en-US" sz="1799" strike="noStrike" u="none">
                <a:solidFill>
                  <a:srgbClr val="000000"/>
                </a:solidFill>
                <a:latin typeface="Helvetica World"/>
                <a:ea typeface="Helvetica World"/>
                <a:cs typeface="Helvetica World"/>
                <a:sym typeface="Helvetica World"/>
              </a:rPr>
              <a:t>a </a:t>
            </a:r>
            <a:r>
              <a:rPr lang="en-US" sz="1799" strike="noStrike" u="none">
                <a:solidFill>
                  <a:srgbClr val="000000"/>
                </a:solidFill>
                <a:latin typeface="Helvetica World"/>
                <a:ea typeface="Helvetica World"/>
                <a:cs typeface="Helvetica World"/>
                <a:sym typeface="Helvetica World"/>
              </a:rPr>
              <a:t>d</a:t>
            </a:r>
            <a:r>
              <a:rPr lang="en-US" sz="1799" strike="noStrike" u="none">
                <a:solidFill>
                  <a:srgbClr val="000000"/>
                </a:solidFill>
                <a:latin typeface="Helvetica World"/>
                <a:ea typeface="Helvetica World"/>
                <a:cs typeface="Helvetica World"/>
                <a:sym typeface="Helvetica World"/>
              </a:rPr>
              <a:t>a</a:t>
            </a:r>
            <a:r>
              <a:rPr lang="en-US" sz="1799" strike="noStrike" u="none">
                <a:solidFill>
                  <a:srgbClr val="000000"/>
                </a:solidFill>
                <a:latin typeface="Helvetica World"/>
                <a:ea typeface="Helvetica World"/>
                <a:cs typeface="Helvetica World"/>
                <a:sym typeface="Helvetica World"/>
              </a:rPr>
              <a:t>l</a:t>
            </a:r>
            <a:r>
              <a:rPr lang="en-US" sz="1799" strike="noStrike" u="none">
                <a:solidFill>
                  <a:srgbClr val="000000"/>
                </a:solidFill>
                <a:latin typeface="Helvetica World"/>
                <a:ea typeface="Helvetica World"/>
                <a:cs typeface="Helvetica World"/>
                <a:sym typeface="Helvetica World"/>
              </a:rPr>
              <a:t>am satu aplikasi.</a:t>
            </a:r>
          </a:p>
        </p:txBody>
      </p:sp>
      <p:sp>
        <p:nvSpPr>
          <p:cNvPr name="TextBox 11" id="11"/>
          <p:cNvSpPr txBox="true"/>
          <p:nvPr/>
        </p:nvSpPr>
        <p:spPr>
          <a:xfrm rot="0">
            <a:off x="6388109" y="5774211"/>
            <a:ext cx="2948603" cy="1312545"/>
          </a:xfrm>
          <a:prstGeom prst="rect">
            <a:avLst/>
          </a:prstGeom>
        </p:spPr>
        <p:txBody>
          <a:bodyPr anchor="t" rtlCol="false" tIns="0" lIns="0" bIns="0" rIns="0">
            <a:spAutoFit/>
          </a:bodyPr>
          <a:lstStyle/>
          <a:p>
            <a:pPr algn="l">
              <a:lnSpc>
                <a:spcPts val="2699"/>
              </a:lnSpc>
              <a:spcBef>
                <a:spcPct val="0"/>
              </a:spcBef>
            </a:pPr>
            <a:r>
              <a:rPr lang="en-US" sz="1799">
                <a:solidFill>
                  <a:srgbClr val="000000"/>
                </a:solidFill>
                <a:latin typeface="Helvetica World"/>
                <a:ea typeface="Helvetica World"/>
                <a:cs typeface="Helvetica World"/>
                <a:sym typeface="Helvetica World"/>
              </a:rPr>
              <a:t>Pr</a:t>
            </a:r>
            <a:r>
              <a:rPr lang="en-US" sz="1799">
                <a:solidFill>
                  <a:srgbClr val="000000"/>
                </a:solidFill>
                <a:latin typeface="Helvetica World"/>
                <a:ea typeface="Helvetica World"/>
                <a:cs typeface="Helvetica World"/>
                <a:sym typeface="Helvetica World"/>
              </a:rPr>
              <a:t>o</a:t>
            </a:r>
            <a:r>
              <a:rPr lang="en-US" sz="1799" strike="noStrike" u="none">
                <a:solidFill>
                  <a:srgbClr val="000000"/>
                </a:solidFill>
                <a:latin typeface="Helvetica World"/>
                <a:ea typeface="Helvetica World"/>
                <a:cs typeface="Helvetica World"/>
                <a:sym typeface="Helvetica World"/>
              </a:rPr>
              <a:t>ses kata pencarian pada metode konvensional masi</a:t>
            </a:r>
            <a:r>
              <a:rPr lang="en-US" sz="1799" strike="noStrike" u="none">
                <a:solidFill>
                  <a:srgbClr val="000000"/>
                </a:solidFill>
                <a:latin typeface="Helvetica World"/>
                <a:ea typeface="Helvetica World"/>
                <a:cs typeface="Helvetica World"/>
                <a:sym typeface="Helvetica World"/>
              </a:rPr>
              <a:t>h m</a:t>
            </a:r>
            <a:r>
              <a:rPr lang="en-US" sz="1799" strike="noStrike" u="none">
                <a:solidFill>
                  <a:srgbClr val="000000"/>
                </a:solidFill>
                <a:latin typeface="Helvetica World"/>
                <a:ea typeface="Helvetica World"/>
                <a:cs typeface="Helvetica World"/>
                <a:sym typeface="Helvetica World"/>
              </a:rPr>
              <a:t>e</a:t>
            </a:r>
            <a:r>
              <a:rPr lang="en-US" sz="1799" strike="noStrike" u="none">
                <a:solidFill>
                  <a:srgbClr val="000000"/>
                </a:solidFill>
                <a:latin typeface="Helvetica World"/>
                <a:ea typeface="Helvetica World"/>
                <a:cs typeface="Helvetica World"/>
                <a:sym typeface="Helvetica World"/>
              </a:rPr>
              <a:t>mbutuhka</a:t>
            </a:r>
            <a:r>
              <a:rPr lang="en-US" sz="1799" strike="noStrike" u="none">
                <a:solidFill>
                  <a:srgbClr val="000000"/>
                </a:solidFill>
                <a:latin typeface="Helvetica World"/>
                <a:ea typeface="Helvetica World"/>
                <a:cs typeface="Helvetica World"/>
                <a:sym typeface="Helvetica World"/>
              </a:rPr>
              <a:t>n</a:t>
            </a:r>
            <a:r>
              <a:rPr lang="en-US" sz="1799" strike="noStrike" u="none">
                <a:solidFill>
                  <a:srgbClr val="000000"/>
                </a:solidFill>
                <a:latin typeface="Helvetica World"/>
                <a:ea typeface="Helvetica World"/>
                <a:cs typeface="Helvetica World"/>
                <a:sym typeface="Helvetica World"/>
              </a:rPr>
              <a:t> waktu lebih lama</a:t>
            </a:r>
            <a:r>
              <a:rPr lang="en-US" sz="1799" strike="noStrike" u="none">
                <a:solidFill>
                  <a:srgbClr val="000000"/>
                </a:solidFill>
                <a:latin typeface="Helvetica World"/>
                <a:ea typeface="Helvetica World"/>
                <a:cs typeface="Helvetica World"/>
                <a:sym typeface="Helvetica World"/>
              </a:rPr>
              <a:t>.</a:t>
            </a:r>
          </a:p>
        </p:txBody>
      </p:sp>
      <p:sp>
        <p:nvSpPr>
          <p:cNvPr name="TextBox 12" id="12"/>
          <p:cNvSpPr txBox="true"/>
          <p:nvPr/>
        </p:nvSpPr>
        <p:spPr>
          <a:xfrm rot="0">
            <a:off x="11031756" y="5774211"/>
            <a:ext cx="2746106" cy="1312545"/>
          </a:xfrm>
          <a:prstGeom prst="rect">
            <a:avLst/>
          </a:prstGeom>
        </p:spPr>
        <p:txBody>
          <a:bodyPr anchor="t" rtlCol="false" tIns="0" lIns="0" bIns="0" rIns="0">
            <a:spAutoFit/>
          </a:bodyPr>
          <a:lstStyle/>
          <a:p>
            <a:pPr algn="l">
              <a:lnSpc>
                <a:spcPts val="2699"/>
              </a:lnSpc>
              <a:spcBef>
                <a:spcPct val="0"/>
              </a:spcBef>
            </a:pPr>
            <a:r>
              <a:rPr lang="en-US" sz="1799">
                <a:solidFill>
                  <a:srgbClr val="000000"/>
                </a:solidFill>
                <a:latin typeface="Helvetica World"/>
                <a:ea typeface="Helvetica World"/>
                <a:cs typeface="Helvetica World"/>
                <a:sym typeface="Helvetica World"/>
              </a:rPr>
              <a:t>B</a:t>
            </a:r>
            <a:r>
              <a:rPr lang="en-US" sz="1799">
                <a:solidFill>
                  <a:srgbClr val="000000"/>
                </a:solidFill>
                <a:latin typeface="Helvetica World"/>
                <a:ea typeface="Helvetica World"/>
                <a:cs typeface="Helvetica World"/>
                <a:sym typeface="Helvetica World"/>
              </a:rPr>
              <a:t>elum tersedia</a:t>
            </a:r>
            <a:r>
              <a:rPr lang="en-US" sz="1799" strike="noStrike" u="none">
                <a:solidFill>
                  <a:srgbClr val="000000"/>
                </a:solidFill>
                <a:latin typeface="Helvetica World"/>
                <a:ea typeface="Helvetica World"/>
                <a:cs typeface="Helvetica World"/>
                <a:sym typeface="Helvetica World"/>
              </a:rPr>
              <a:t> fitur autocomplete yang dapat membantu pengguna saat mengetik</a:t>
            </a:r>
            <a:r>
              <a:rPr lang="en-US" sz="1799" strike="noStrike" u="none">
                <a:solidFill>
                  <a:srgbClr val="000000"/>
                </a:solidFill>
                <a:latin typeface="Helvetica World"/>
                <a:ea typeface="Helvetica World"/>
                <a:cs typeface="Helvetica World"/>
                <a:sym typeface="Helvetica World"/>
              </a:rPr>
              <a:t> kata</a:t>
            </a:r>
            <a:r>
              <a:rPr lang="en-US" sz="1799" strike="noStrike" u="none">
                <a:solidFill>
                  <a:srgbClr val="000000"/>
                </a:solidFill>
                <a:latin typeface="Helvetica World"/>
                <a:ea typeface="Helvetica World"/>
                <a:cs typeface="Helvetica World"/>
                <a:sym typeface="Helvetica World"/>
              </a:rPr>
              <a:t>.</a:t>
            </a:r>
          </a:p>
        </p:txBody>
      </p:sp>
      <p:sp>
        <p:nvSpPr>
          <p:cNvPr name="TextBox 13" id="13"/>
          <p:cNvSpPr txBox="true"/>
          <p:nvPr/>
        </p:nvSpPr>
        <p:spPr>
          <a:xfrm rot="0">
            <a:off x="6388109" y="7677545"/>
            <a:ext cx="2650805" cy="645795"/>
          </a:xfrm>
          <a:prstGeom prst="rect">
            <a:avLst/>
          </a:prstGeom>
        </p:spPr>
        <p:txBody>
          <a:bodyPr anchor="t" rtlCol="false" tIns="0" lIns="0" bIns="0" rIns="0">
            <a:spAutoFit/>
          </a:bodyPr>
          <a:lstStyle/>
          <a:p>
            <a:pPr algn="l">
              <a:lnSpc>
                <a:spcPts val="2699"/>
              </a:lnSpc>
              <a:spcBef>
                <a:spcPct val="0"/>
              </a:spcBef>
            </a:pPr>
            <a:r>
              <a:rPr lang="en-US" sz="1799">
                <a:solidFill>
                  <a:srgbClr val="000000"/>
                </a:solidFill>
                <a:latin typeface="Helvetica World"/>
                <a:ea typeface="Helvetica World"/>
                <a:cs typeface="Helvetica World"/>
                <a:sym typeface="Helvetica World"/>
              </a:rPr>
              <a:t>Riw</a:t>
            </a:r>
            <a:r>
              <a:rPr lang="en-US" sz="1799" strike="noStrike" u="none">
                <a:solidFill>
                  <a:srgbClr val="000000"/>
                </a:solidFill>
                <a:latin typeface="Helvetica World"/>
                <a:ea typeface="Helvetica World"/>
                <a:cs typeface="Helvetica World"/>
                <a:sym typeface="Helvetica World"/>
              </a:rPr>
              <a:t>a</a:t>
            </a:r>
            <a:r>
              <a:rPr lang="en-US" sz="1799" strike="noStrike" u="none">
                <a:solidFill>
                  <a:srgbClr val="000000"/>
                </a:solidFill>
                <a:latin typeface="Helvetica World"/>
                <a:ea typeface="Helvetica World"/>
                <a:cs typeface="Helvetica World"/>
                <a:sym typeface="Helvetica World"/>
              </a:rPr>
              <a:t>y</a:t>
            </a:r>
            <a:r>
              <a:rPr lang="en-US" sz="1799" strike="noStrike" u="none">
                <a:solidFill>
                  <a:srgbClr val="000000"/>
                </a:solidFill>
                <a:latin typeface="Helvetica World"/>
                <a:ea typeface="Helvetica World"/>
                <a:cs typeface="Helvetica World"/>
                <a:sym typeface="Helvetica World"/>
              </a:rPr>
              <a:t>a</a:t>
            </a:r>
            <a:r>
              <a:rPr lang="en-US" sz="1799" strike="noStrike" u="none">
                <a:solidFill>
                  <a:srgbClr val="000000"/>
                </a:solidFill>
                <a:latin typeface="Helvetica World"/>
                <a:ea typeface="Helvetica World"/>
                <a:cs typeface="Helvetica World"/>
                <a:sym typeface="Helvetica World"/>
              </a:rPr>
              <a:t>t</a:t>
            </a:r>
            <a:r>
              <a:rPr lang="en-US" sz="1799" strike="noStrike" u="none">
                <a:solidFill>
                  <a:srgbClr val="000000"/>
                </a:solidFill>
                <a:latin typeface="Helvetica World"/>
                <a:ea typeface="Helvetica World"/>
                <a:cs typeface="Helvetica World"/>
                <a:sym typeface="Helvetica World"/>
              </a:rPr>
              <a:t> pen</a:t>
            </a:r>
            <a:r>
              <a:rPr lang="en-US" sz="1799" strike="noStrike" u="none">
                <a:solidFill>
                  <a:srgbClr val="000000"/>
                </a:solidFill>
                <a:latin typeface="Helvetica World"/>
                <a:ea typeface="Helvetica World"/>
                <a:cs typeface="Helvetica World"/>
                <a:sym typeface="Helvetica World"/>
              </a:rPr>
              <a:t>car</a:t>
            </a:r>
            <a:r>
              <a:rPr lang="en-US" sz="1799" strike="noStrike" u="none">
                <a:solidFill>
                  <a:srgbClr val="000000"/>
                </a:solidFill>
                <a:latin typeface="Helvetica World"/>
                <a:ea typeface="Helvetica World"/>
                <a:cs typeface="Helvetica World"/>
                <a:sym typeface="Helvetica World"/>
              </a:rPr>
              <a:t>ian belum </a:t>
            </a:r>
            <a:r>
              <a:rPr lang="en-US" sz="1799" strike="noStrike" u="none">
                <a:solidFill>
                  <a:srgbClr val="000000"/>
                </a:solidFill>
                <a:latin typeface="Helvetica World"/>
                <a:ea typeface="Helvetica World"/>
                <a:cs typeface="Helvetica World"/>
                <a:sym typeface="Helvetica World"/>
              </a:rPr>
              <a:t>dik</a:t>
            </a:r>
            <a:r>
              <a:rPr lang="en-US" sz="1799" strike="noStrike" u="none">
                <a:solidFill>
                  <a:srgbClr val="000000"/>
                </a:solidFill>
                <a:latin typeface="Helvetica World"/>
                <a:ea typeface="Helvetica World"/>
                <a:cs typeface="Helvetica World"/>
                <a:sym typeface="Helvetica World"/>
              </a:rPr>
              <a:t>e</a:t>
            </a:r>
            <a:r>
              <a:rPr lang="en-US" sz="1799" strike="noStrike" u="none">
                <a:solidFill>
                  <a:srgbClr val="000000"/>
                </a:solidFill>
                <a:latin typeface="Helvetica World"/>
                <a:ea typeface="Helvetica World"/>
                <a:cs typeface="Helvetica World"/>
                <a:sym typeface="Helvetica World"/>
              </a:rPr>
              <a:t>lol</a:t>
            </a:r>
            <a:r>
              <a:rPr lang="en-US" sz="1799" strike="noStrike" u="none">
                <a:solidFill>
                  <a:srgbClr val="000000"/>
                </a:solidFill>
                <a:latin typeface="Helvetica World"/>
                <a:ea typeface="Helvetica World"/>
                <a:cs typeface="Helvetica World"/>
                <a:sym typeface="Helvetica World"/>
              </a:rPr>
              <a:t>a </a:t>
            </a:r>
            <a:r>
              <a:rPr lang="en-US" sz="1799" strike="noStrike" u="none">
                <a:solidFill>
                  <a:srgbClr val="000000"/>
                </a:solidFill>
                <a:latin typeface="Helvetica World"/>
                <a:ea typeface="Helvetica World"/>
                <a:cs typeface="Helvetica World"/>
                <a:sym typeface="Helvetica World"/>
              </a:rPr>
              <a:t>sec</a:t>
            </a:r>
            <a:r>
              <a:rPr lang="en-US" sz="1799" strike="noStrike" u="none">
                <a:solidFill>
                  <a:srgbClr val="000000"/>
                </a:solidFill>
                <a:latin typeface="Helvetica World"/>
                <a:ea typeface="Helvetica World"/>
                <a:cs typeface="Helvetica World"/>
                <a:sym typeface="Helvetica World"/>
              </a:rPr>
              <a:t>a</a:t>
            </a:r>
            <a:r>
              <a:rPr lang="en-US" sz="1799" strike="noStrike" u="none">
                <a:solidFill>
                  <a:srgbClr val="000000"/>
                </a:solidFill>
                <a:latin typeface="Helvetica World"/>
                <a:ea typeface="Helvetica World"/>
                <a:cs typeface="Helvetica World"/>
                <a:sym typeface="Helvetica World"/>
              </a:rPr>
              <a:t>r</a:t>
            </a:r>
            <a:r>
              <a:rPr lang="en-US" sz="1799" strike="noStrike" u="none">
                <a:solidFill>
                  <a:srgbClr val="000000"/>
                </a:solidFill>
                <a:latin typeface="Helvetica World"/>
                <a:ea typeface="Helvetica World"/>
                <a:cs typeface="Helvetica World"/>
                <a:sym typeface="Helvetica World"/>
              </a:rPr>
              <a:t>a </a:t>
            </a:r>
            <a:r>
              <a:rPr lang="en-US" sz="1799" strike="noStrike" u="none">
                <a:solidFill>
                  <a:srgbClr val="000000"/>
                </a:solidFill>
                <a:latin typeface="Helvetica World"/>
                <a:ea typeface="Helvetica World"/>
                <a:cs typeface="Helvetica World"/>
                <a:sym typeface="Helvetica World"/>
              </a:rPr>
              <a:t>ef</a:t>
            </a:r>
            <a:r>
              <a:rPr lang="en-US" sz="1799" strike="noStrike" u="none">
                <a:solidFill>
                  <a:srgbClr val="000000"/>
                </a:solidFill>
                <a:latin typeface="Helvetica World"/>
                <a:ea typeface="Helvetica World"/>
                <a:cs typeface="Helvetica World"/>
                <a:sym typeface="Helvetica World"/>
              </a:rPr>
              <a:t>isien.</a:t>
            </a:r>
          </a:p>
        </p:txBody>
      </p:sp>
      <p:sp>
        <p:nvSpPr>
          <p:cNvPr name="Freeform 14" id="14"/>
          <p:cNvSpPr/>
          <p:nvPr/>
        </p:nvSpPr>
        <p:spPr>
          <a:xfrm flipH="false" flipV="false" rot="0">
            <a:off x="1028700" y="7780087"/>
            <a:ext cx="155488" cy="160749"/>
          </a:xfrm>
          <a:custGeom>
            <a:avLst/>
            <a:gdLst/>
            <a:ahLst/>
            <a:cxnLst/>
            <a:rect r="r" b="b" t="t" l="l"/>
            <a:pathLst>
              <a:path h="160749" w="155488">
                <a:moveTo>
                  <a:pt x="0" y="0"/>
                </a:moveTo>
                <a:lnTo>
                  <a:pt x="155488" y="0"/>
                </a:lnTo>
                <a:lnTo>
                  <a:pt x="155488" y="160749"/>
                </a:lnTo>
                <a:lnTo>
                  <a:pt x="0" y="1607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6030434" y="5871444"/>
            <a:ext cx="155488" cy="160749"/>
          </a:xfrm>
          <a:custGeom>
            <a:avLst/>
            <a:gdLst/>
            <a:ahLst/>
            <a:cxnLst/>
            <a:rect r="r" b="b" t="t" l="l"/>
            <a:pathLst>
              <a:path h="160749" w="155488">
                <a:moveTo>
                  <a:pt x="0" y="0"/>
                </a:moveTo>
                <a:lnTo>
                  <a:pt x="155489" y="0"/>
                </a:lnTo>
                <a:lnTo>
                  <a:pt x="155489" y="160749"/>
                </a:lnTo>
                <a:lnTo>
                  <a:pt x="0" y="1607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6030434" y="7780087"/>
            <a:ext cx="155488" cy="160749"/>
          </a:xfrm>
          <a:custGeom>
            <a:avLst/>
            <a:gdLst/>
            <a:ahLst/>
            <a:cxnLst/>
            <a:rect r="r" b="b" t="t" l="l"/>
            <a:pathLst>
              <a:path h="160749" w="155488">
                <a:moveTo>
                  <a:pt x="0" y="0"/>
                </a:moveTo>
                <a:lnTo>
                  <a:pt x="155489" y="0"/>
                </a:lnTo>
                <a:lnTo>
                  <a:pt x="155489" y="160749"/>
                </a:lnTo>
                <a:lnTo>
                  <a:pt x="0" y="1607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0746412" y="5871444"/>
            <a:ext cx="155488" cy="160749"/>
          </a:xfrm>
          <a:custGeom>
            <a:avLst/>
            <a:gdLst/>
            <a:ahLst/>
            <a:cxnLst/>
            <a:rect r="r" b="b" t="t" l="l"/>
            <a:pathLst>
              <a:path h="160749" w="155488">
                <a:moveTo>
                  <a:pt x="0" y="0"/>
                </a:moveTo>
                <a:lnTo>
                  <a:pt x="155488" y="0"/>
                </a:lnTo>
                <a:lnTo>
                  <a:pt x="155488" y="160749"/>
                </a:lnTo>
                <a:lnTo>
                  <a:pt x="0" y="1607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51414"/>
        </a:solidFill>
      </p:bgPr>
    </p:bg>
    <p:spTree>
      <p:nvGrpSpPr>
        <p:cNvPr id="1" name=""/>
        <p:cNvGrpSpPr/>
        <p:nvPr/>
      </p:nvGrpSpPr>
      <p:grpSpPr>
        <a:xfrm>
          <a:off x="0" y="0"/>
          <a:ext cx="0" cy="0"/>
          <a:chOff x="0" y="0"/>
          <a:chExt cx="0" cy="0"/>
        </a:xfrm>
      </p:grpSpPr>
      <p:sp>
        <p:nvSpPr>
          <p:cNvPr name="TextBox 2" id="2"/>
          <p:cNvSpPr txBox="true"/>
          <p:nvPr/>
        </p:nvSpPr>
        <p:spPr>
          <a:xfrm rot="0">
            <a:off x="605493" y="9344025"/>
            <a:ext cx="2196466" cy="307678"/>
          </a:xfrm>
          <a:prstGeom prst="rect">
            <a:avLst/>
          </a:prstGeom>
        </p:spPr>
        <p:txBody>
          <a:bodyPr anchor="t" rtlCol="false" tIns="0" lIns="0" bIns="0" rIns="0">
            <a:spAutoFit/>
          </a:bodyPr>
          <a:lstStyle/>
          <a:p>
            <a:pPr algn="just" marL="0" indent="0" lvl="0">
              <a:lnSpc>
                <a:spcPts val="2088"/>
              </a:lnSpc>
              <a:spcBef>
                <a:spcPct val="0"/>
              </a:spcBef>
            </a:pPr>
            <a:r>
              <a:rPr lang="en-US" b="true" sz="2400" spc="-105">
                <a:solidFill>
                  <a:srgbClr val="FEF8EF"/>
                </a:solidFill>
                <a:latin typeface="Helvetica World Bold"/>
                <a:ea typeface="Helvetica World Bold"/>
                <a:cs typeface="Helvetica World Bold"/>
                <a:sym typeface="Helvetica World Bold"/>
              </a:rPr>
              <a:t>04</a:t>
            </a:r>
            <a:r>
              <a:rPr lang="en-US" b="true" sz="2400" spc="-105">
                <a:solidFill>
                  <a:srgbClr val="FEF8EF"/>
                </a:solidFill>
                <a:latin typeface="Helvetica World Bold"/>
                <a:ea typeface="Helvetica World Bold"/>
                <a:cs typeface="Helvetica World Bold"/>
                <a:sym typeface="Helvetica World Bold"/>
              </a:rPr>
              <a:t>/18</a:t>
            </a:r>
          </a:p>
        </p:txBody>
      </p:sp>
      <p:sp>
        <p:nvSpPr>
          <p:cNvPr name="TextBox 3" id="3"/>
          <p:cNvSpPr txBox="true"/>
          <p:nvPr/>
        </p:nvSpPr>
        <p:spPr>
          <a:xfrm rot="0">
            <a:off x="696502" y="5603636"/>
            <a:ext cx="8284524" cy="1945997"/>
          </a:xfrm>
          <a:prstGeom prst="rect">
            <a:avLst/>
          </a:prstGeom>
        </p:spPr>
        <p:txBody>
          <a:bodyPr anchor="t" rtlCol="false" tIns="0" lIns="0" bIns="0" rIns="0">
            <a:spAutoFit/>
          </a:bodyPr>
          <a:lstStyle/>
          <a:p>
            <a:pPr algn="l">
              <a:lnSpc>
                <a:spcPts val="6310"/>
              </a:lnSpc>
            </a:pPr>
            <a:r>
              <a:rPr lang="en-US" b="true" sz="8090" spc="-355">
                <a:solidFill>
                  <a:srgbClr val="FEF8EF"/>
                </a:solidFill>
                <a:latin typeface="Helvetica World Bold"/>
                <a:ea typeface="Helvetica World Bold"/>
                <a:cs typeface="Helvetica World Bold"/>
                <a:sym typeface="Helvetica World Bold"/>
              </a:rPr>
              <a:t>Pe</a:t>
            </a:r>
            <a:r>
              <a:rPr lang="en-US" b="true" sz="8090" spc="-355">
                <a:solidFill>
                  <a:srgbClr val="FEF8EF"/>
                </a:solidFill>
                <a:latin typeface="Helvetica World Bold"/>
                <a:ea typeface="Helvetica World Bold"/>
                <a:cs typeface="Helvetica World Bold"/>
                <a:sym typeface="Helvetica World Bold"/>
              </a:rPr>
              <a:t>rmasalahan yang Diselesaikan</a:t>
            </a:r>
          </a:p>
        </p:txBody>
      </p:sp>
      <p:sp>
        <p:nvSpPr>
          <p:cNvPr name="Freeform 4" id="4"/>
          <p:cNvSpPr/>
          <p:nvPr/>
        </p:nvSpPr>
        <p:spPr>
          <a:xfrm flipH="false" flipV="false" rot="0">
            <a:off x="16899339" y="670808"/>
            <a:ext cx="715784" cy="715784"/>
          </a:xfrm>
          <a:custGeom>
            <a:avLst/>
            <a:gdLst/>
            <a:ahLst/>
            <a:cxnLst/>
            <a:rect r="r" b="b" t="t" l="l"/>
            <a:pathLst>
              <a:path h="715784" w="715784">
                <a:moveTo>
                  <a:pt x="0" y="0"/>
                </a:moveTo>
                <a:lnTo>
                  <a:pt x="715785" y="0"/>
                </a:lnTo>
                <a:lnTo>
                  <a:pt x="715785" y="715784"/>
                </a:lnTo>
                <a:lnTo>
                  <a:pt x="0" y="71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2125035" y="3262391"/>
            <a:ext cx="2650805" cy="979170"/>
          </a:xfrm>
          <a:prstGeom prst="rect">
            <a:avLst/>
          </a:prstGeom>
        </p:spPr>
        <p:txBody>
          <a:bodyPr anchor="t" rtlCol="false" tIns="0" lIns="0" bIns="0" rIns="0">
            <a:spAutoFit/>
          </a:bodyPr>
          <a:lstStyle/>
          <a:p>
            <a:pPr algn="l">
              <a:lnSpc>
                <a:spcPts val="2699"/>
              </a:lnSpc>
              <a:spcBef>
                <a:spcPct val="0"/>
              </a:spcBef>
            </a:pPr>
            <a:r>
              <a:rPr lang="en-US" sz="1799">
                <a:solidFill>
                  <a:srgbClr val="FEF8EF"/>
                </a:solidFill>
                <a:latin typeface="Helvetica World"/>
                <a:ea typeface="Helvetica World"/>
                <a:cs typeface="Helvetica World"/>
                <a:sym typeface="Helvetica World"/>
              </a:rPr>
              <a:t>Tr</a:t>
            </a:r>
            <a:r>
              <a:rPr lang="en-US" sz="1799" strike="noStrike" u="none">
                <a:solidFill>
                  <a:srgbClr val="FEF8EF"/>
                </a:solidFill>
                <a:latin typeface="Helvetica World"/>
                <a:ea typeface="Helvetica World"/>
                <a:cs typeface="Helvetica World"/>
                <a:sym typeface="Helvetica World"/>
              </a:rPr>
              <a:t>i</a:t>
            </a:r>
            <a:r>
              <a:rPr lang="en-US" sz="1799" strike="noStrike" u="none">
                <a:solidFill>
                  <a:srgbClr val="FEF8EF"/>
                </a:solidFill>
                <a:latin typeface="Helvetica World"/>
                <a:ea typeface="Helvetica World"/>
                <a:cs typeface="Helvetica World"/>
                <a:sym typeface="Helvetica World"/>
              </a:rPr>
              <a:t>e</a:t>
            </a:r>
            <a:r>
              <a:rPr lang="en-US" sz="1799" strike="noStrike" u="none">
                <a:solidFill>
                  <a:srgbClr val="FEF8EF"/>
                </a:solidFill>
                <a:latin typeface="Helvetica World"/>
                <a:ea typeface="Helvetica World"/>
                <a:cs typeface="Helvetica World"/>
                <a:sym typeface="Helvetica World"/>
              </a:rPr>
              <a:t> </a:t>
            </a:r>
            <a:r>
              <a:rPr lang="en-US" sz="1799" strike="noStrike" u="none">
                <a:solidFill>
                  <a:srgbClr val="FEF8EF"/>
                </a:solidFill>
                <a:latin typeface="Helvetica World"/>
                <a:ea typeface="Helvetica World"/>
                <a:cs typeface="Helvetica World"/>
                <a:sym typeface="Helvetica World"/>
              </a:rPr>
              <a:t>→ mempercep</a:t>
            </a:r>
            <a:r>
              <a:rPr lang="en-US" sz="1799" strike="noStrike" u="none">
                <a:solidFill>
                  <a:srgbClr val="FEF8EF"/>
                </a:solidFill>
                <a:latin typeface="Helvetica World"/>
                <a:ea typeface="Helvetica World"/>
                <a:cs typeface="Helvetica World"/>
                <a:sym typeface="Helvetica World"/>
              </a:rPr>
              <a:t>a</a:t>
            </a:r>
            <a:r>
              <a:rPr lang="en-US" sz="1799" strike="noStrike" u="none">
                <a:solidFill>
                  <a:srgbClr val="FEF8EF"/>
                </a:solidFill>
                <a:latin typeface="Helvetica World"/>
                <a:ea typeface="Helvetica World"/>
                <a:cs typeface="Helvetica World"/>
                <a:sym typeface="Helvetica World"/>
              </a:rPr>
              <a:t>t</a:t>
            </a:r>
            <a:r>
              <a:rPr lang="en-US" sz="1799" strike="noStrike" u="none">
                <a:solidFill>
                  <a:srgbClr val="FEF8EF"/>
                </a:solidFill>
                <a:latin typeface="Helvetica World"/>
                <a:ea typeface="Helvetica World"/>
                <a:cs typeface="Helvetica World"/>
                <a:sym typeface="Helvetica World"/>
              </a:rPr>
              <a:t> </a:t>
            </a:r>
            <a:r>
              <a:rPr lang="en-US" sz="1799" strike="noStrike" u="none">
                <a:solidFill>
                  <a:srgbClr val="FEF8EF"/>
                </a:solidFill>
                <a:latin typeface="Helvetica World"/>
                <a:ea typeface="Helvetica World"/>
                <a:cs typeface="Helvetica World"/>
                <a:sym typeface="Helvetica World"/>
              </a:rPr>
              <a:t>f</a:t>
            </a:r>
            <a:r>
              <a:rPr lang="en-US" sz="1799" strike="noStrike" u="none">
                <a:solidFill>
                  <a:srgbClr val="FEF8EF"/>
                </a:solidFill>
                <a:latin typeface="Helvetica World"/>
                <a:ea typeface="Helvetica World"/>
                <a:cs typeface="Helvetica World"/>
                <a:sym typeface="Helvetica World"/>
              </a:rPr>
              <a:t>it</a:t>
            </a:r>
            <a:r>
              <a:rPr lang="en-US" sz="1799" strike="noStrike" u="none">
                <a:solidFill>
                  <a:srgbClr val="FEF8EF"/>
                </a:solidFill>
                <a:latin typeface="Helvetica World"/>
                <a:ea typeface="Helvetica World"/>
                <a:cs typeface="Helvetica World"/>
                <a:sym typeface="Helvetica World"/>
              </a:rPr>
              <a:t>ur</a:t>
            </a:r>
            <a:r>
              <a:rPr lang="en-US" sz="1799" strike="noStrike" u="none">
                <a:solidFill>
                  <a:srgbClr val="FEF8EF"/>
                </a:solidFill>
                <a:latin typeface="Helvetica World"/>
                <a:ea typeface="Helvetica World"/>
                <a:cs typeface="Helvetica World"/>
                <a:sym typeface="Helvetica World"/>
              </a:rPr>
              <a:t> </a:t>
            </a:r>
            <a:r>
              <a:rPr lang="en-US" sz="1799" strike="noStrike" u="none">
                <a:solidFill>
                  <a:srgbClr val="FEF8EF"/>
                </a:solidFill>
                <a:latin typeface="Helvetica World"/>
                <a:ea typeface="Helvetica World"/>
                <a:cs typeface="Helvetica World"/>
                <a:sym typeface="Helvetica World"/>
              </a:rPr>
              <a:t>a</a:t>
            </a:r>
            <a:r>
              <a:rPr lang="en-US" sz="1799" strike="noStrike" u="none">
                <a:solidFill>
                  <a:srgbClr val="FEF8EF"/>
                </a:solidFill>
                <a:latin typeface="Helvetica World"/>
                <a:ea typeface="Helvetica World"/>
                <a:cs typeface="Helvetica World"/>
                <a:sym typeface="Helvetica World"/>
              </a:rPr>
              <a:t>u</a:t>
            </a:r>
            <a:r>
              <a:rPr lang="en-US" sz="1799" strike="noStrike" u="none">
                <a:solidFill>
                  <a:srgbClr val="FEF8EF"/>
                </a:solidFill>
                <a:latin typeface="Helvetica World"/>
                <a:ea typeface="Helvetica World"/>
                <a:cs typeface="Helvetica World"/>
                <a:sym typeface="Helvetica World"/>
              </a:rPr>
              <a:t>tocomp</a:t>
            </a:r>
            <a:r>
              <a:rPr lang="en-US" sz="1799" strike="noStrike" u="none">
                <a:solidFill>
                  <a:srgbClr val="FEF8EF"/>
                </a:solidFill>
                <a:latin typeface="Helvetica World"/>
                <a:ea typeface="Helvetica World"/>
                <a:cs typeface="Helvetica World"/>
                <a:sym typeface="Helvetica World"/>
              </a:rPr>
              <a:t>l</a:t>
            </a:r>
            <a:r>
              <a:rPr lang="en-US" sz="1799" strike="noStrike" u="none">
                <a:solidFill>
                  <a:srgbClr val="FEF8EF"/>
                </a:solidFill>
                <a:latin typeface="Helvetica World"/>
                <a:ea typeface="Helvetica World"/>
                <a:cs typeface="Helvetica World"/>
                <a:sym typeface="Helvetica World"/>
              </a:rPr>
              <a:t>e</a:t>
            </a:r>
            <a:r>
              <a:rPr lang="en-US" sz="1799" strike="noStrike" u="none">
                <a:solidFill>
                  <a:srgbClr val="FEF8EF"/>
                </a:solidFill>
                <a:latin typeface="Helvetica World"/>
                <a:ea typeface="Helvetica World"/>
                <a:cs typeface="Helvetica World"/>
                <a:sym typeface="Helvetica World"/>
              </a:rPr>
              <a:t>t</a:t>
            </a:r>
            <a:r>
              <a:rPr lang="en-US" sz="1799" strike="noStrike" u="none">
                <a:solidFill>
                  <a:srgbClr val="FEF8EF"/>
                </a:solidFill>
                <a:latin typeface="Helvetica World"/>
                <a:ea typeface="Helvetica World"/>
                <a:cs typeface="Helvetica World"/>
                <a:sym typeface="Helvetica World"/>
              </a:rPr>
              <a:t>e.</a:t>
            </a:r>
          </a:p>
          <a:p>
            <a:pPr algn="l">
              <a:lnSpc>
                <a:spcPts val="2699"/>
              </a:lnSpc>
              <a:spcBef>
                <a:spcPct val="0"/>
              </a:spcBef>
            </a:pPr>
          </a:p>
        </p:txBody>
      </p:sp>
      <p:sp>
        <p:nvSpPr>
          <p:cNvPr name="TextBox 6" id="6"/>
          <p:cNvSpPr txBox="true"/>
          <p:nvPr/>
        </p:nvSpPr>
        <p:spPr>
          <a:xfrm rot="0">
            <a:off x="753697" y="2699267"/>
            <a:ext cx="836216" cy="421640"/>
          </a:xfrm>
          <a:prstGeom prst="rect">
            <a:avLst/>
          </a:prstGeom>
        </p:spPr>
        <p:txBody>
          <a:bodyPr anchor="t" rtlCol="false" tIns="0" lIns="0" bIns="0" rIns="0">
            <a:spAutoFit/>
          </a:bodyPr>
          <a:lstStyle/>
          <a:p>
            <a:pPr algn="l">
              <a:lnSpc>
                <a:spcPts val="3359"/>
              </a:lnSpc>
              <a:spcBef>
                <a:spcPct val="0"/>
              </a:spcBef>
            </a:pPr>
            <a:r>
              <a:rPr lang="en-US" b="true" sz="2400" spc="-105">
                <a:solidFill>
                  <a:srgbClr val="FEF8EF"/>
                </a:solidFill>
                <a:latin typeface="Helvetica World Bold"/>
                <a:ea typeface="Helvetica World Bold"/>
                <a:cs typeface="Helvetica World Bold"/>
                <a:sym typeface="Helvetica World Bold"/>
              </a:rPr>
              <a:t>Solusi</a:t>
            </a:r>
          </a:p>
        </p:txBody>
      </p:sp>
      <p:sp>
        <p:nvSpPr>
          <p:cNvPr name="TextBox 7" id="7"/>
          <p:cNvSpPr txBox="true"/>
          <p:nvPr/>
        </p:nvSpPr>
        <p:spPr>
          <a:xfrm rot="0">
            <a:off x="753697" y="3262391"/>
            <a:ext cx="2984338" cy="979170"/>
          </a:xfrm>
          <a:prstGeom prst="rect">
            <a:avLst/>
          </a:prstGeom>
        </p:spPr>
        <p:txBody>
          <a:bodyPr anchor="t" rtlCol="false" tIns="0" lIns="0" bIns="0" rIns="0">
            <a:spAutoFit/>
          </a:bodyPr>
          <a:lstStyle/>
          <a:p>
            <a:pPr algn="l">
              <a:lnSpc>
                <a:spcPts val="2699"/>
              </a:lnSpc>
              <a:spcBef>
                <a:spcPct val="0"/>
              </a:spcBef>
            </a:pPr>
            <a:r>
              <a:rPr lang="en-US" sz="1799">
                <a:solidFill>
                  <a:srgbClr val="FEF8EF"/>
                </a:solidFill>
                <a:latin typeface="Helvetica World"/>
                <a:ea typeface="Helvetica World"/>
                <a:cs typeface="Helvetica World"/>
                <a:sym typeface="Helvetica World"/>
              </a:rPr>
              <a:t>Hash Tabl</a:t>
            </a:r>
            <a:r>
              <a:rPr lang="en-US" sz="1799" strike="noStrike" u="none">
                <a:solidFill>
                  <a:srgbClr val="FEF8EF"/>
                </a:solidFill>
                <a:latin typeface="Helvetica World"/>
                <a:ea typeface="Helvetica World"/>
                <a:cs typeface="Helvetica World"/>
                <a:sym typeface="Helvetica World"/>
              </a:rPr>
              <a:t>e → mempercepat pencarian kata denga</a:t>
            </a:r>
            <a:r>
              <a:rPr lang="en-US" sz="1799" strike="noStrike" u="none">
                <a:solidFill>
                  <a:srgbClr val="FEF8EF"/>
                </a:solidFill>
                <a:latin typeface="Helvetica World"/>
                <a:ea typeface="Helvetica World"/>
                <a:cs typeface="Helvetica World"/>
                <a:sym typeface="Helvetica World"/>
              </a:rPr>
              <a:t>n k</a:t>
            </a:r>
            <a:r>
              <a:rPr lang="en-US" sz="1799" strike="noStrike" u="none">
                <a:solidFill>
                  <a:srgbClr val="FEF8EF"/>
                </a:solidFill>
                <a:latin typeface="Helvetica World"/>
                <a:ea typeface="Helvetica World"/>
                <a:cs typeface="Helvetica World"/>
                <a:sym typeface="Helvetica World"/>
              </a:rPr>
              <a:t>omple</a:t>
            </a:r>
            <a:r>
              <a:rPr lang="en-US" sz="1799" strike="noStrike" u="none">
                <a:solidFill>
                  <a:srgbClr val="FEF8EF"/>
                </a:solidFill>
                <a:latin typeface="Helvetica World"/>
                <a:ea typeface="Helvetica World"/>
                <a:cs typeface="Helvetica World"/>
                <a:sym typeface="Helvetica World"/>
              </a:rPr>
              <a:t>ksitas ra</a:t>
            </a:r>
            <a:r>
              <a:rPr lang="en-US" sz="1799" strike="noStrike" u="none">
                <a:solidFill>
                  <a:srgbClr val="FEF8EF"/>
                </a:solidFill>
                <a:latin typeface="Helvetica World"/>
                <a:ea typeface="Helvetica World"/>
                <a:cs typeface="Helvetica World"/>
                <a:sym typeface="Helvetica World"/>
              </a:rPr>
              <a:t>ta-rata O(1)</a:t>
            </a:r>
          </a:p>
        </p:txBody>
      </p:sp>
      <p:sp>
        <p:nvSpPr>
          <p:cNvPr name="TextBox 8" id="8"/>
          <p:cNvSpPr txBox="true"/>
          <p:nvPr/>
        </p:nvSpPr>
        <p:spPr>
          <a:xfrm rot="0">
            <a:off x="4487576" y="3262391"/>
            <a:ext cx="2948603" cy="979170"/>
          </a:xfrm>
          <a:prstGeom prst="rect">
            <a:avLst/>
          </a:prstGeom>
        </p:spPr>
        <p:txBody>
          <a:bodyPr anchor="t" rtlCol="false" tIns="0" lIns="0" bIns="0" rIns="0">
            <a:spAutoFit/>
          </a:bodyPr>
          <a:lstStyle/>
          <a:p>
            <a:pPr algn="l">
              <a:lnSpc>
                <a:spcPts val="2699"/>
              </a:lnSpc>
              <a:spcBef>
                <a:spcPct val="0"/>
              </a:spcBef>
            </a:pPr>
            <a:r>
              <a:rPr lang="en-US" sz="1799">
                <a:solidFill>
                  <a:srgbClr val="FEF8EF"/>
                </a:solidFill>
                <a:latin typeface="Helvetica World"/>
                <a:ea typeface="Helvetica World"/>
                <a:cs typeface="Helvetica World"/>
                <a:sym typeface="Helvetica World"/>
              </a:rPr>
              <a:t>Doubly Link</a:t>
            </a:r>
            <a:r>
              <a:rPr lang="en-US" sz="1799" strike="noStrike" u="none">
                <a:solidFill>
                  <a:srgbClr val="FEF8EF"/>
                </a:solidFill>
                <a:latin typeface="Helvetica World"/>
                <a:ea typeface="Helvetica World"/>
                <a:cs typeface="Helvetica World"/>
                <a:sym typeface="Helvetica World"/>
              </a:rPr>
              <a:t>ed List → mengelola riwayat pencarian secara efis</a:t>
            </a:r>
            <a:r>
              <a:rPr lang="en-US" sz="1799" strike="noStrike" u="none">
                <a:solidFill>
                  <a:srgbClr val="FEF8EF"/>
                </a:solidFill>
                <a:latin typeface="Helvetica World"/>
                <a:ea typeface="Helvetica World"/>
                <a:cs typeface="Helvetica World"/>
                <a:sym typeface="Helvetica World"/>
              </a:rPr>
              <a:t>ien.</a:t>
            </a:r>
          </a:p>
        </p:txBody>
      </p:sp>
      <p:sp>
        <p:nvSpPr>
          <p:cNvPr name="TextBox 9" id="9"/>
          <p:cNvSpPr txBox="true"/>
          <p:nvPr/>
        </p:nvSpPr>
        <p:spPr>
          <a:xfrm rot="0">
            <a:off x="8185719" y="3262391"/>
            <a:ext cx="3186841" cy="979170"/>
          </a:xfrm>
          <a:prstGeom prst="rect">
            <a:avLst/>
          </a:prstGeom>
        </p:spPr>
        <p:txBody>
          <a:bodyPr anchor="t" rtlCol="false" tIns="0" lIns="0" bIns="0" rIns="0">
            <a:spAutoFit/>
          </a:bodyPr>
          <a:lstStyle/>
          <a:p>
            <a:pPr algn="l">
              <a:lnSpc>
                <a:spcPts val="2699"/>
              </a:lnSpc>
              <a:spcBef>
                <a:spcPct val="0"/>
              </a:spcBef>
            </a:pPr>
            <a:r>
              <a:rPr lang="en-US" sz="1799">
                <a:solidFill>
                  <a:srgbClr val="FEF8EF"/>
                </a:solidFill>
                <a:latin typeface="Helvetica World"/>
                <a:ea typeface="Helvetica World"/>
                <a:cs typeface="Helvetica World"/>
                <a:sym typeface="Helvetica World"/>
              </a:rPr>
              <a:t>Levenshtein</a:t>
            </a:r>
            <a:r>
              <a:rPr lang="en-US" sz="1799" strike="noStrike" u="none">
                <a:solidFill>
                  <a:srgbClr val="FEF8EF"/>
                </a:solidFill>
                <a:latin typeface="Helvetica World"/>
                <a:ea typeface="Helvetica World"/>
                <a:cs typeface="Helvetica World"/>
                <a:sym typeface="Helvetica World"/>
              </a:rPr>
              <a:t> Distance → memberikan rekomendasi kata ketika terjadi kesalahan</a:t>
            </a:r>
            <a:r>
              <a:rPr lang="en-US" sz="1799" strike="noStrike" u="none">
                <a:solidFill>
                  <a:srgbClr val="FEF8EF"/>
                </a:solidFill>
                <a:latin typeface="Helvetica World"/>
                <a:ea typeface="Helvetica World"/>
                <a:cs typeface="Helvetica World"/>
                <a:sym typeface="Helvetica World"/>
              </a:rPr>
              <a:t> ketik</a:t>
            </a:r>
            <a:r>
              <a:rPr lang="en-US" sz="1799" strike="noStrike" u="none">
                <a:solidFill>
                  <a:srgbClr val="FEF8EF"/>
                </a:solidFill>
                <a:latin typeface="Helvetica World"/>
                <a:ea typeface="Helvetica World"/>
                <a:cs typeface="Helvetica World"/>
                <a:sym typeface="Helvetica World"/>
              </a:rPr>
              <a:t>.</a:t>
            </a:r>
          </a:p>
        </p:txBody>
      </p:sp>
      <p:sp>
        <p:nvSpPr>
          <p:cNvPr name="Freeform 10" id="10"/>
          <p:cNvSpPr/>
          <p:nvPr/>
        </p:nvSpPr>
        <p:spPr>
          <a:xfrm flipH="true" flipV="false" rot="-9247915">
            <a:off x="11559544" y="4917822"/>
            <a:ext cx="20885479" cy="13138865"/>
          </a:xfrm>
          <a:custGeom>
            <a:avLst/>
            <a:gdLst/>
            <a:ahLst/>
            <a:cxnLst/>
            <a:rect r="r" b="b" t="t" l="l"/>
            <a:pathLst>
              <a:path h="13138865" w="20885479">
                <a:moveTo>
                  <a:pt x="20885479" y="0"/>
                </a:moveTo>
                <a:lnTo>
                  <a:pt x="0" y="0"/>
                </a:lnTo>
                <a:lnTo>
                  <a:pt x="0" y="13138865"/>
                </a:lnTo>
                <a:lnTo>
                  <a:pt x="20885479" y="13138865"/>
                </a:lnTo>
                <a:lnTo>
                  <a:pt x="20885479" y="0"/>
                </a:lnTo>
                <a:close/>
              </a:path>
            </a:pathLst>
          </a:custGeom>
          <a:blipFill>
            <a:blip r:embed="rId4"/>
            <a:stretch>
              <a:fillRect l="0" t="0" r="0" b="0"/>
            </a:stretch>
          </a:blipFill>
        </p:spPr>
      </p:sp>
      <p:sp>
        <p:nvSpPr>
          <p:cNvPr name="TextBox 11" id="11"/>
          <p:cNvSpPr txBox="true"/>
          <p:nvPr/>
        </p:nvSpPr>
        <p:spPr>
          <a:xfrm rot="0">
            <a:off x="1268082" y="818744"/>
            <a:ext cx="3416127" cy="567848"/>
          </a:xfrm>
          <a:prstGeom prst="rect">
            <a:avLst/>
          </a:prstGeom>
        </p:spPr>
        <p:txBody>
          <a:bodyPr anchor="t" rtlCol="false" tIns="0" lIns="0" bIns="0" rIns="0">
            <a:spAutoFit/>
          </a:bodyPr>
          <a:lstStyle/>
          <a:p>
            <a:pPr algn="l">
              <a:lnSpc>
                <a:spcPts val="3746"/>
              </a:lnSpc>
            </a:pPr>
            <a:r>
              <a:rPr lang="en-US" b="true" sz="4306" spc="-189">
                <a:solidFill>
                  <a:srgbClr val="FEF8EF"/>
                </a:solidFill>
                <a:latin typeface="Helvetica World Bold"/>
                <a:ea typeface="Helvetica World Bold"/>
                <a:cs typeface="Helvetica World Bold"/>
                <a:sym typeface="Helvetica World Bold"/>
              </a:rPr>
              <a:t>Struktur Data</a:t>
            </a:r>
          </a:p>
        </p:txBody>
      </p:sp>
      <p:sp>
        <p:nvSpPr>
          <p:cNvPr name="Freeform 12" id="12"/>
          <p:cNvSpPr/>
          <p:nvPr/>
        </p:nvSpPr>
        <p:spPr>
          <a:xfrm flipH="false" flipV="false" rot="0">
            <a:off x="696502" y="861869"/>
            <a:ext cx="381235" cy="394134"/>
          </a:xfrm>
          <a:custGeom>
            <a:avLst/>
            <a:gdLst/>
            <a:ahLst/>
            <a:cxnLst/>
            <a:rect r="r" b="b" t="t" l="l"/>
            <a:pathLst>
              <a:path h="394134" w="381235">
                <a:moveTo>
                  <a:pt x="0" y="0"/>
                </a:moveTo>
                <a:lnTo>
                  <a:pt x="381235" y="0"/>
                </a:lnTo>
                <a:lnTo>
                  <a:pt x="381235" y="394134"/>
                </a:lnTo>
                <a:lnTo>
                  <a:pt x="0" y="3941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7436179" y="6109338"/>
            <a:ext cx="851760" cy="310134"/>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FEF8EF"/>
                </a:solidFill>
                <a:latin typeface="Helvetica World Bold"/>
                <a:ea typeface="Helvetica World Bold"/>
                <a:cs typeface="Helvetica World Bold"/>
                <a:sym typeface="Helvetica World Bold"/>
              </a:rPr>
              <a:t>02/02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TextBox 2" id="2"/>
          <p:cNvSpPr txBox="true"/>
          <p:nvPr/>
        </p:nvSpPr>
        <p:spPr>
          <a:xfrm rot="0">
            <a:off x="15246326" y="9344025"/>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05/18</a:t>
            </a:r>
          </a:p>
        </p:txBody>
      </p:sp>
      <p:sp>
        <p:nvSpPr>
          <p:cNvPr name="TextBox 3" id="3"/>
          <p:cNvSpPr txBox="true"/>
          <p:nvPr/>
        </p:nvSpPr>
        <p:spPr>
          <a:xfrm rot="0">
            <a:off x="672876" y="9344025"/>
            <a:ext cx="4231734" cy="307678"/>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Kelompok 11</a:t>
            </a:r>
          </a:p>
        </p:txBody>
      </p:sp>
      <p:sp>
        <p:nvSpPr>
          <p:cNvPr name="TextBox 4" id="4"/>
          <p:cNvSpPr txBox="true"/>
          <p:nvPr/>
        </p:nvSpPr>
        <p:spPr>
          <a:xfrm rot="0">
            <a:off x="648029" y="2417720"/>
            <a:ext cx="4036038" cy="2018251"/>
          </a:xfrm>
          <a:prstGeom prst="rect">
            <a:avLst/>
          </a:prstGeom>
        </p:spPr>
        <p:txBody>
          <a:bodyPr anchor="t" rtlCol="false" tIns="0" lIns="0" bIns="0" rIns="0">
            <a:spAutoFit/>
          </a:bodyPr>
          <a:lstStyle/>
          <a:p>
            <a:pPr algn="l">
              <a:lnSpc>
                <a:spcPts val="14052"/>
              </a:lnSpc>
            </a:pPr>
            <a:r>
              <a:rPr lang="en-US" sz="18016" spc="-792">
                <a:solidFill>
                  <a:srgbClr val="000000"/>
                </a:solidFill>
                <a:latin typeface="Helvetica World"/>
                <a:ea typeface="Helvetica World"/>
                <a:cs typeface="Helvetica World"/>
                <a:sym typeface="Helvetica World"/>
              </a:rPr>
              <a:t>05</a:t>
            </a:r>
          </a:p>
        </p:txBody>
      </p:sp>
      <p:sp>
        <p:nvSpPr>
          <p:cNvPr name="TextBox 5" id="5"/>
          <p:cNvSpPr txBox="true"/>
          <p:nvPr/>
        </p:nvSpPr>
        <p:spPr>
          <a:xfrm rot="0">
            <a:off x="648029" y="5880147"/>
            <a:ext cx="4733605" cy="1312545"/>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A</a:t>
            </a:r>
            <a:r>
              <a:rPr lang="en-US" sz="1799">
                <a:solidFill>
                  <a:srgbClr val="000000"/>
                </a:solidFill>
                <a:latin typeface="Helvetica World"/>
                <a:ea typeface="Helvetica World"/>
                <a:cs typeface="Helvetica World"/>
                <a:sym typeface="Helvetica World"/>
              </a:rPr>
              <a:t>plikasi Kamus Digital Multilingual merupakan aplikasi berbasis Python yang dirancang untuk menerjemahkan kata dalam Bahasa Indonesia, Bahasa Inggris, dan Bahasa Sunda.</a:t>
            </a:r>
          </a:p>
        </p:txBody>
      </p:sp>
      <p:sp>
        <p:nvSpPr>
          <p:cNvPr name="Freeform 6" id="6"/>
          <p:cNvSpPr/>
          <p:nvPr/>
        </p:nvSpPr>
        <p:spPr>
          <a:xfrm flipH="false" flipV="false" rot="0">
            <a:off x="16899339" y="670808"/>
            <a:ext cx="715784" cy="715784"/>
          </a:xfrm>
          <a:custGeom>
            <a:avLst/>
            <a:gdLst/>
            <a:ahLst/>
            <a:cxnLst/>
            <a:rect r="r" b="b" t="t" l="l"/>
            <a:pathLst>
              <a:path h="715784" w="715784">
                <a:moveTo>
                  <a:pt x="0" y="0"/>
                </a:moveTo>
                <a:lnTo>
                  <a:pt x="715785" y="0"/>
                </a:lnTo>
                <a:lnTo>
                  <a:pt x="715785" y="715784"/>
                </a:lnTo>
                <a:lnTo>
                  <a:pt x="0" y="71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324492" y="2220523"/>
            <a:ext cx="4363007" cy="1945921"/>
          </a:xfrm>
          <a:prstGeom prst="rect">
            <a:avLst/>
          </a:prstGeom>
        </p:spPr>
        <p:txBody>
          <a:bodyPr anchor="t" rtlCol="false" tIns="0" lIns="0" bIns="0" rIns="0">
            <a:spAutoFit/>
          </a:bodyPr>
          <a:lstStyle/>
          <a:p>
            <a:pPr algn="l">
              <a:lnSpc>
                <a:spcPts val="6309"/>
              </a:lnSpc>
            </a:pPr>
            <a:r>
              <a:rPr lang="en-US" b="true" sz="8088" spc="-355">
                <a:solidFill>
                  <a:srgbClr val="000000"/>
                </a:solidFill>
                <a:latin typeface="Helvetica World Bold"/>
                <a:ea typeface="Helvetica World Bold"/>
                <a:cs typeface="Helvetica World Bold"/>
                <a:sym typeface="Helvetica World Bold"/>
              </a:rPr>
              <a:t>D</a:t>
            </a:r>
            <a:r>
              <a:rPr lang="en-US" b="true" sz="8088" spc="-355">
                <a:solidFill>
                  <a:srgbClr val="000000"/>
                </a:solidFill>
                <a:latin typeface="Helvetica World Bold"/>
                <a:ea typeface="Helvetica World Bold"/>
                <a:cs typeface="Helvetica World Bold"/>
                <a:sym typeface="Helvetica World Bold"/>
              </a:rPr>
              <a:t>eskripsi Aplikasi</a:t>
            </a:r>
          </a:p>
        </p:txBody>
      </p:sp>
      <p:sp>
        <p:nvSpPr>
          <p:cNvPr name="TextBox 8" id="8"/>
          <p:cNvSpPr txBox="true"/>
          <p:nvPr/>
        </p:nvSpPr>
        <p:spPr>
          <a:xfrm rot="0">
            <a:off x="648029" y="5340846"/>
            <a:ext cx="3476228" cy="421640"/>
          </a:xfrm>
          <a:prstGeom prst="rect">
            <a:avLst/>
          </a:prstGeom>
        </p:spPr>
        <p:txBody>
          <a:bodyPr anchor="t" rtlCol="false" tIns="0" lIns="0" bIns="0" rIns="0">
            <a:spAutoFit/>
          </a:bodyPr>
          <a:lstStyle/>
          <a:p>
            <a:pPr algn="l">
              <a:lnSpc>
                <a:spcPts val="3359"/>
              </a:lnSpc>
              <a:spcBef>
                <a:spcPct val="0"/>
              </a:spcBef>
            </a:pPr>
            <a:r>
              <a:rPr lang="en-US" b="true" sz="2400" spc="-105">
                <a:solidFill>
                  <a:srgbClr val="000000"/>
                </a:solidFill>
                <a:latin typeface="Helvetica World Bold"/>
                <a:ea typeface="Helvetica World Bold"/>
                <a:cs typeface="Helvetica World Bold"/>
                <a:sym typeface="Helvetica World Bold"/>
              </a:rPr>
              <a:t>Kamus Digital Multilingual</a:t>
            </a:r>
          </a:p>
        </p:txBody>
      </p:sp>
      <p:sp>
        <p:nvSpPr>
          <p:cNvPr name="TextBox 9" id="9"/>
          <p:cNvSpPr txBox="true"/>
          <p:nvPr/>
        </p:nvSpPr>
        <p:spPr>
          <a:xfrm rot="0">
            <a:off x="6324492" y="5340846"/>
            <a:ext cx="3530203" cy="421640"/>
          </a:xfrm>
          <a:prstGeom prst="rect">
            <a:avLst/>
          </a:prstGeom>
        </p:spPr>
        <p:txBody>
          <a:bodyPr anchor="t" rtlCol="false" tIns="0" lIns="0" bIns="0" rIns="0">
            <a:spAutoFit/>
          </a:bodyPr>
          <a:lstStyle/>
          <a:p>
            <a:pPr algn="l">
              <a:lnSpc>
                <a:spcPts val="3359"/>
              </a:lnSpc>
              <a:spcBef>
                <a:spcPct val="0"/>
              </a:spcBef>
            </a:pPr>
            <a:r>
              <a:rPr lang="en-US" b="true" sz="2400" spc="-105">
                <a:solidFill>
                  <a:srgbClr val="000000"/>
                </a:solidFill>
                <a:latin typeface="Helvetica World Bold"/>
                <a:ea typeface="Helvetica World Bold"/>
                <a:cs typeface="Helvetica World Bold"/>
                <a:sym typeface="Helvetica World Bold"/>
              </a:rPr>
              <a:t>Teknologi yang Digunakan</a:t>
            </a:r>
          </a:p>
        </p:txBody>
      </p:sp>
      <p:sp>
        <p:nvSpPr>
          <p:cNvPr name="TextBox 10" id="10"/>
          <p:cNvSpPr txBox="true"/>
          <p:nvPr/>
        </p:nvSpPr>
        <p:spPr>
          <a:xfrm rot="0">
            <a:off x="6324492" y="5880147"/>
            <a:ext cx="4097296" cy="1312545"/>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A</a:t>
            </a:r>
            <a:r>
              <a:rPr lang="en-US" sz="1799">
                <a:solidFill>
                  <a:srgbClr val="000000"/>
                </a:solidFill>
                <a:latin typeface="Helvetica World"/>
                <a:ea typeface="Helvetica World"/>
                <a:cs typeface="Helvetica World"/>
                <a:sym typeface="Helvetica World"/>
              </a:rPr>
              <a:t>plikasi ini memanfaatkan struktur data Trie, Hash Table, dan Doubly Linked List untuk menghasilkan proses pencarian yang cepat dan efisien.</a:t>
            </a:r>
          </a:p>
        </p:txBody>
      </p:sp>
      <p:sp>
        <p:nvSpPr>
          <p:cNvPr name="TextBox 11" id="11"/>
          <p:cNvSpPr txBox="true"/>
          <p:nvPr/>
        </p:nvSpPr>
        <p:spPr>
          <a:xfrm rot="0">
            <a:off x="11364647" y="5893135"/>
            <a:ext cx="6078145" cy="1312545"/>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Se</a:t>
            </a:r>
            <a:r>
              <a:rPr lang="en-US" sz="1799">
                <a:solidFill>
                  <a:srgbClr val="000000"/>
                </a:solidFill>
                <a:latin typeface="Helvetica World"/>
                <a:ea typeface="Helvetica World"/>
                <a:cs typeface="Helvetica World"/>
                <a:sym typeface="Helvetica World"/>
              </a:rPr>
              <a:t>lain fitur penerjemahan, aplikasi juga menyediakan autocomplete, riwayat pencarian, koreksi kata, daftar favorit, serta mode kuis interaktif sehingga dapat digunakan sebagai media pembelajaran bahasa yang mudah dan praktis.</a:t>
            </a:r>
          </a:p>
        </p:txBody>
      </p:sp>
      <p:sp>
        <p:nvSpPr>
          <p:cNvPr name="TextBox 12" id="12"/>
          <p:cNvSpPr txBox="true"/>
          <p:nvPr/>
        </p:nvSpPr>
        <p:spPr>
          <a:xfrm rot="0">
            <a:off x="11364647" y="5340846"/>
            <a:ext cx="3530203" cy="421640"/>
          </a:xfrm>
          <a:prstGeom prst="rect">
            <a:avLst/>
          </a:prstGeom>
        </p:spPr>
        <p:txBody>
          <a:bodyPr anchor="t" rtlCol="false" tIns="0" lIns="0" bIns="0" rIns="0">
            <a:spAutoFit/>
          </a:bodyPr>
          <a:lstStyle/>
          <a:p>
            <a:pPr algn="l">
              <a:lnSpc>
                <a:spcPts val="3359"/>
              </a:lnSpc>
              <a:spcBef>
                <a:spcPct val="0"/>
              </a:spcBef>
            </a:pPr>
            <a:r>
              <a:rPr lang="en-US" b="true" sz="2400" spc="-105">
                <a:solidFill>
                  <a:srgbClr val="000000"/>
                </a:solidFill>
                <a:latin typeface="Helvetica World Bold"/>
                <a:ea typeface="Helvetica World Bold"/>
                <a:cs typeface="Helvetica World Bold"/>
                <a:sym typeface="Helvetica World Bold"/>
              </a:rPr>
              <a:t>Teknologi yang Digunakan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Freeform 2" id="2"/>
          <p:cNvSpPr/>
          <p:nvPr/>
        </p:nvSpPr>
        <p:spPr>
          <a:xfrm flipH="true" flipV="false" rot="3325660">
            <a:off x="11559544" y="4917822"/>
            <a:ext cx="20885479" cy="13138865"/>
          </a:xfrm>
          <a:custGeom>
            <a:avLst/>
            <a:gdLst/>
            <a:ahLst/>
            <a:cxnLst/>
            <a:rect r="r" b="b" t="t" l="l"/>
            <a:pathLst>
              <a:path h="13138865" w="20885479">
                <a:moveTo>
                  <a:pt x="20885479" y="0"/>
                </a:moveTo>
                <a:lnTo>
                  <a:pt x="0" y="0"/>
                </a:lnTo>
                <a:lnTo>
                  <a:pt x="0" y="13138865"/>
                </a:lnTo>
                <a:lnTo>
                  <a:pt x="20885479" y="13138865"/>
                </a:lnTo>
                <a:lnTo>
                  <a:pt x="20885479" y="0"/>
                </a:lnTo>
                <a:close/>
              </a:path>
            </a:pathLst>
          </a:custGeom>
          <a:blipFill>
            <a:blip r:embed="rId2"/>
            <a:stretch>
              <a:fillRect l="0" t="0" r="0" b="0"/>
            </a:stretch>
          </a:blipFill>
        </p:spPr>
      </p:sp>
      <p:sp>
        <p:nvSpPr>
          <p:cNvPr name="TextBox 3" id="3"/>
          <p:cNvSpPr txBox="true"/>
          <p:nvPr/>
        </p:nvSpPr>
        <p:spPr>
          <a:xfrm rot="0">
            <a:off x="672876" y="6450644"/>
            <a:ext cx="7947004" cy="1494512"/>
          </a:xfrm>
          <a:prstGeom prst="rect">
            <a:avLst/>
          </a:prstGeom>
        </p:spPr>
        <p:txBody>
          <a:bodyPr anchor="t" rtlCol="false" tIns="0" lIns="0" bIns="0" rIns="0">
            <a:spAutoFit/>
          </a:bodyPr>
          <a:lstStyle/>
          <a:p>
            <a:pPr algn="l">
              <a:lnSpc>
                <a:spcPts val="9272"/>
              </a:lnSpc>
            </a:pPr>
            <a:r>
              <a:rPr lang="en-US" b="true" sz="11887" spc="-523">
                <a:solidFill>
                  <a:srgbClr val="000000"/>
                </a:solidFill>
                <a:latin typeface="Helvetica World Bold"/>
                <a:ea typeface="Helvetica World Bold"/>
                <a:cs typeface="Helvetica World Bold"/>
                <a:sym typeface="Helvetica World Bold"/>
              </a:rPr>
              <a:t>Fi</a:t>
            </a:r>
            <a:r>
              <a:rPr lang="en-US" b="true" sz="11887" spc="-523">
                <a:solidFill>
                  <a:srgbClr val="000000"/>
                </a:solidFill>
                <a:latin typeface="Helvetica World Bold"/>
                <a:ea typeface="Helvetica World Bold"/>
                <a:cs typeface="Helvetica World Bold"/>
                <a:sym typeface="Helvetica World Bold"/>
              </a:rPr>
              <a:t>tur Utama </a:t>
            </a:r>
          </a:p>
        </p:txBody>
      </p:sp>
      <p:sp>
        <p:nvSpPr>
          <p:cNvPr name="TextBox 4" id="4"/>
          <p:cNvSpPr txBox="true"/>
          <p:nvPr/>
        </p:nvSpPr>
        <p:spPr>
          <a:xfrm rot="0">
            <a:off x="6823547" y="2834799"/>
            <a:ext cx="4531364" cy="979170"/>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M</a:t>
            </a:r>
            <a:r>
              <a:rPr lang="en-US" sz="1799">
                <a:solidFill>
                  <a:srgbClr val="000000"/>
                </a:solidFill>
                <a:latin typeface="Helvetica World"/>
                <a:ea typeface="Helvetica World"/>
                <a:cs typeface="Helvetica World"/>
                <a:sym typeface="Helvetica World"/>
              </a:rPr>
              <a:t>emberikan saran kata secara otomatis saat pengguna mengetik menggunakan struktur data Trie.</a:t>
            </a:r>
          </a:p>
        </p:txBody>
      </p:sp>
      <p:sp>
        <p:nvSpPr>
          <p:cNvPr name="TextBox 5" id="5"/>
          <p:cNvSpPr txBox="true"/>
          <p:nvPr/>
        </p:nvSpPr>
        <p:spPr>
          <a:xfrm rot="0">
            <a:off x="6823547" y="2427568"/>
            <a:ext cx="4077754" cy="310134"/>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Autocomp</a:t>
            </a:r>
            <a:r>
              <a:rPr lang="en-US" b="true" sz="2400" spc="-105" strike="noStrike" u="none">
                <a:solidFill>
                  <a:srgbClr val="000000"/>
                </a:solidFill>
                <a:latin typeface="Helvetica World Bold"/>
                <a:ea typeface="Helvetica World Bold"/>
                <a:cs typeface="Helvetica World Bold"/>
                <a:sym typeface="Helvetica World Bold"/>
              </a:rPr>
              <a:t>lete</a:t>
            </a:r>
          </a:p>
        </p:txBody>
      </p:sp>
      <p:sp>
        <p:nvSpPr>
          <p:cNvPr name="TextBox 6" id="6"/>
          <p:cNvSpPr txBox="true"/>
          <p:nvPr/>
        </p:nvSpPr>
        <p:spPr>
          <a:xfrm rot="0">
            <a:off x="13196364" y="9344025"/>
            <a:ext cx="4418760"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strike="noStrike" u="none">
                <a:solidFill>
                  <a:srgbClr val="000000"/>
                </a:solidFill>
                <a:latin typeface="Helvetica World Bold"/>
                <a:ea typeface="Helvetica World Bold"/>
                <a:cs typeface="Helvetica World Bold"/>
                <a:sym typeface="Helvetica World Bold"/>
              </a:rPr>
              <a:t>06</a:t>
            </a:r>
            <a:r>
              <a:rPr lang="en-US" b="true" sz="2400" spc="-105" strike="noStrike" u="none">
                <a:solidFill>
                  <a:srgbClr val="000000"/>
                </a:solidFill>
                <a:latin typeface="Helvetica World Bold"/>
                <a:ea typeface="Helvetica World Bold"/>
                <a:cs typeface="Helvetica World Bold"/>
                <a:sym typeface="Helvetica World Bold"/>
              </a:rPr>
              <a:t>/18</a:t>
            </a:r>
          </a:p>
        </p:txBody>
      </p:sp>
      <p:sp>
        <p:nvSpPr>
          <p:cNvPr name="Freeform 7" id="7"/>
          <p:cNvSpPr/>
          <p:nvPr/>
        </p:nvSpPr>
        <p:spPr>
          <a:xfrm flipH="false" flipV="false" rot="0">
            <a:off x="16899339" y="670808"/>
            <a:ext cx="715784" cy="715784"/>
          </a:xfrm>
          <a:custGeom>
            <a:avLst/>
            <a:gdLst/>
            <a:ahLst/>
            <a:cxnLst/>
            <a:rect r="r" b="b" t="t" l="l"/>
            <a:pathLst>
              <a:path h="715784" w="715784">
                <a:moveTo>
                  <a:pt x="0" y="0"/>
                </a:moveTo>
                <a:lnTo>
                  <a:pt x="715785" y="0"/>
                </a:lnTo>
                <a:lnTo>
                  <a:pt x="715785" y="715784"/>
                </a:lnTo>
                <a:lnTo>
                  <a:pt x="0" y="715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77651" y="2834799"/>
            <a:ext cx="4531364" cy="979170"/>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M</a:t>
            </a:r>
            <a:r>
              <a:rPr lang="en-US" sz="1799">
                <a:solidFill>
                  <a:srgbClr val="000000"/>
                </a:solidFill>
                <a:latin typeface="Helvetica World"/>
                <a:ea typeface="Helvetica World"/>
                <a:cs typeface="Helvetica World"/>
                <a:sym typeface="Helvetica World"/>
              </a:rPr>
              <a:t>encari terjemahan kata dalam Bahasa Indonesia, Bahasa Inggris, dan Bahasa Sunda menggunakan Hash Table.</a:t>
            </a:r>
          </a:p>
        </p:txBody>
      </p:sp>
      <p:sp>
        <p:nvSpPr>
          <p:cNvPr name="TextBox 9" id="9"/>
          <p:cNvSpPr txBox="true"/>
          <p:nvPr/>
        </p:nvSpPr>
        <p:spPr>
          <a:xfrm rot="0">
            <a:off x="777651" y="2427568"/>
            <a:ext cx="4077754" cy="310134"/>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P</a:t>
            </a:r>
            <a:r>
              <a:rPr lang="en-US" b="true" sz="2400" spc="-105" strike="noStrike" u="none">
                <a:solidFill>
                  <a:srgbClr val="000000"/>
                </a:solidFill>
                <a:latin typeface="Helvetica World Bold"/>
                <a:ea typeface="Helvetica World Bold"/>
                <a:cs typeface="Helvetica World Bold"/>
                <a:sym typeface="Helvetica World Bold"/>
              </a:rPr>
              <a:t>e</a:t>
            </a:r>
            <a:r>
              <a:rPr lang="en-US" b="true" sz="2400" spc="-105" strike="noStrike" u="none">
                <a:solidFill>
                  <a:srgbClr val="000000"/>
                </a:solidFill>
                <a:latin typeface="Helvetica World Bold"/>
                <a:ea typeface="Helvetica World Bold"/>
                <a:cs typeface="Helvetica World Bold"/>
                <a:sym typeface="Helvetica World Bold"/>
              </a:rPr>
              <a:t>nc</a:t>
            </a:r>
            <a:r>
              <a:rPr lang="en-US" b="true" sz="2400" spc="-105" strike="noStrike" u="none">
                <a:solidFill>
                  <a:srgbClr val="000000"/>
                </a:solidFill>
                <a:latin typeface="Helvetica World Bold"/>
                <a:ea typeface="Helvetica World Bold"/>
                <a:cs typeface="Helvetica World Bold"/>
                <a:sym typeface="Helvetica World Bold"/>
              </a:rPr>
              <a:t>arian Kata Ce</a:t>
            </a:r>
            <a:r>
              <a:rPr lang="en-US" b="true" sz="2400" spc="-105" strike="noStrike" u="none">
                <a:solidFill>
                  <a:srgbClr val="000000"/>
                </a:solidFill>
                <a:latin typeface="Helvetica World Bold"/>
                <a:ea typeface="Helvetica World Bold"/>
                <a:cs typeface="Helvetica World Bold"/>
                <a:sym typeface="Helvetica World Bold"/>
              </a:rPr>
              <a:t>p</a:t>
            </a:r>
            <a:r>
              <a:rPr lang="en-US" b="true" sz="2400" spc="-105" strike="noStrike" u="none">
                <a:solidFill>
                  <a:srgbClr val="000000"/>
                </a:solidFill>
                <a:latin typeface="Helvetica World Bold"/>
                <a:ea typeface="Helvetica World Bold"/>
                <a:cs typeface="Helvetica World Bold"/>
                <a:sym typeface="Helvetica World Bold"/>
              </a:rPr>
              <a:t>at</a:t>
            </a:r>
          </a:p>
        </p:txBody>
      </p:sp>
      <p:sp>
        <p:nvSpPr>
          <p:cNvPr name="TextBox 10" id="10"/>
          <p:cNvSpPr txBox="true"/>
          <p:nvPr/>
        </p:nvSpPr>
        <p:spPr>
          <a:xfrm rot="0">
            <a:off x="12869442" y="2834799"/>
            <a:ext cx="4531364" cy="979170"/>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M</a:t>
            </a:r>
            <a:r>
              <a:rPr lang="en-US" sz="1799">
                <a:solidFill>
                  <a:srgbClr val="000000"/>
                </a:solidFill>
                <a:latin typeface="Helvetica World"/>
                <a:ea typeface="Helvetica World"/>
                <a:cs typeface="Helvetica World"/>
                <a:sym typeface="Helvetica World"/>
              </a:rPr>
              <a:t>enyediakan kuis kosakata untuk membantu pengguna belajar dan menguji kemampuan bahasa secara lebih menarik.</a:t>
            </a:r>
          </a:p>
        </p:txBody>
      </p:sp>
      <p:sp>
        <p:nvSpPr>
          <p:cNvPr name="TextBox 11" id="11"/>
          <p:cNvSpPr txBox="true"/>
          <p:nvPr/>
        </p:nvSpPr>
        <p:spPr>
          <a:xfrm rot="0">
            <a:off x="12869442" y="2427568"/>
            <a:ext cx="4387790" cy="310134"/>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Mod</a:t>
            </a:r>
            <a:r>
              <a:rPr lang="en-US" b="true" sz="2400" spc="-105" strike="noStrike" u="none">
                <a:solidFill>
                  <a:srgbClr val="000000"/>
                </a:solidFill>
                <a:latin typeface="Helvetica World Bold"/>
                <a:ea typeface="Helvetica World Bold"/>
                <a:cs typeface="Helvetica World Bold"/>
                <a:sym typeface="Helvetica World Bold"/>
              </a:rPr>
              <a:t>e Kuis Interaktif</a:t>
            </a:r>
          </a:p>
        </p:txBody>
      </p:sp>
      <p:sp>
        <p:nvSpPr>
          <p:cNvPr name="TextBox 12" id="12"/>
          <p:cNvSpPr txBox="true"/>
          <p:nvPr/>
        </p:nvSpPr>
        <p:spPr>
          <a:xfrm rot="0">
            <a:off x="777651" y="7832952"/>
            <a:ext cx="851760" cy="310134"/>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01/02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Freeform 2" id="2"/>
          <p:cNvSpPr/>
          <p:nvPr/>
        </p:nvSpPr>
        <p:spPr>
          <a:xfrm flipH="false" flipV="false" rot="8295308">
            <a:off x="10866792" y="-3718001"/>
            <a:ext cx="20885479" cy="13138865"/>
          </a:xfrm>
          <a:custGeom>
            <a:avLst/>
            <a:gdLst/>
            <a:ahLst/>
            <a:cxnLst/>
            <a:rect r="r" b="b" t="t" l="l"/>
            <a:pathLst>
              <a:path h="13138865" w="20885479">
                <a:moveTo>
                  <a:pt x="0" y="0"/>
                </a:moveTo>
                <a:lnTo>
                  <a:pt x="20885478" y="0"/>
                </a:lnTo>
                <a:lnTo>
                  <a:pt x="20885478" y="13138865"/>
                </a:lnTo>
                <a:lnTo>
                  <a:pt x="0" y="13138865"/>
                </a:lnTo>
                <a:lnTo>
                  <a:pt x="0" y="0"/>
                </a:lnTo>
                <a:close/>
              </a:path>
            </a:pathLst>
          </a:custGeom>
          <a:blipFill>
            <a:blip r:embed="rId2"/>
            <a:stretch>
              <a:fillRect l="0" t="0" r="0" b="0"/>
            </a:stretch>
          </a:blipFill>
        </p:spPr>
      </p:sp>
      <p:sp>
        <p:nvSpPr>
          <p:cNvPr name="TextBox 3" id="3"/>
          <p:cNvSpPr txBox="true"/>
          <p:nvPr/>
        </p:nvSpPr>
        <p:spPr>
          <a:xfrm rot="0">
            <a:off x="672876" y="1626999"/>
            <a:ext cx="13883966" cy="1494512"/>
          </a:xfrm>
          <a:prstGeom prst="rect">
            <a:avLst/>
          </a:prstGeom>
        </p:spPr>
        <p:txBody>
          <a:bodyPr anchor="t" rtlCol="false" tIns="0" lIns="0" bIns="0" rIns="0">
            <a:spAutoFit/>
          </a:bodyPr>
          <a:lstStyle/>
          <a:p>
            <a:pPr algn="l">
              <a:lnSpc>
                <a:spcPts val="9272"/>
              </a:lnSpc>
            </a:pPr>
            <a:r>
              <a:rPr lang="en-US" b="true" sz="11887" spc="-523">
                <a:solidFill>
                  <a:srgbClr val="000000"/>
                </a:solidFill>
                <a:latin typeface="Helvetica World Bold"/>
                <a:ea typeface="Helvetica World Bold"/>
                <a:cs typeface="Helvetica World Bold"/>
                <a:sym typeface="Helvetica World Bold"/>
              </a:rPr>
              <a:t>Fi</a:t>
            </a:r>
            <a:r>
              <a:rPr lang="en-US" b="true" sz="11887" spc="-523">
                <a:solidFill>
                  <a:srgbClr val="000000"/>
                </a:solidFill>
                <a:latin typeface="Helvetica World Bold"/>
                <a:ea typeface="Helvetica World Bold"/>
                <a:cs typeface="Helvetica World Bold"/>
                <a:sym typeface="Helvetica World Bold"/>
              </a:rPr>
              <a:t>tur Utama </a:t>
            </a:r>
          </a:p>
        </p:txBody>
      </p:sp>
      <p:sp>
        <p:nvSpPr>
          <p:cNvPr name="TextBox 4" id="4"/>
          <p:cNvSpPr txBox="true"/>
          <p:nvPr/>
        </p:nvSpPr>
        <p:spPr>
          <a:xfrm rot="0">
            <a:off x="15418658" y="9344025"/>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07</a:t>
            </a:r>
            <a:r>
              <a:rPr lang="en-US" b="true" sz="2400" spc="-105">
                <a:solidFill>
                  <a:srgbClr val="000000"/>
                </a:solidFill>
                <a:latin typeface="Helvetica World Bold"/>
                <a:ea typeface="Helvetica World Bold"/>
                <a:cs typeface="Helvetica World Bold"/>
                <a:sym typeface="Helvetica World Bold"/>
              </a:rPr>
              <a:t>/18</a:t>
            </a:r>
          </a:p>
        </p:txBody>
      </p:sp>
      <p:sp>
        <p:nvSpPr>
          <p:cNvPr name="TextBox 5" id="5"/>
          <p:cNvSpPr txBox="true"/>
          <p:nvPr/>
        </p:nvSpPr>
        <p:spPr>
          <a:xfrm rot="0">
            <a:off x="672876" y="9344025"/>
            <a:ext cx="4142994" cy="307678"/>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K</a:t>
            </a:r>
            <a:r>
              <a:rPr lang="en-US" b="true" sz="2400" spc="-105">
                <a:solidFill>
                  <a:srgbClr val="000000"/>
                </a:solidFill>
                <a:latin typeface="Helvetica World Bold"/>
                <a:ea typeface="Helvetica World Bold"/>
                <a:cs typeface="Helvetica World Bold"/>
                <a:sym typeface="Helvetica World Bold"/>
              </a:rPr>
              <a:t>elompok 11</a:t>
            </a:r>
          </a:p>
        </p:txBody>
      </p:sp>
      <p:sp>
        <p:nvSpPr>
          <p:cNvPr name="TextBox 6" id="6"/>
          <p:cNvSpPr txBox="true"/>
          <p:nvPr/>
        </p:nvSpPr>
        <p:spPr>
          <a:xfrm rot="0">
            <a:off x="763486" y="5748120"/>
            <a:ext cx="4709103" cy="1312545"/>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M</a:t>
            </a:r>
            <a:r>
              <a:rPr lang="en-US" sz="1799">
                <a:solidFill>
                  <a:srgbClr val="000000"/>
                </a:solidFill>
                <a:latin typeface="Helvetica World"/>
                <a:ea typeface="Helvetica World"/>
                <a:cs typeface="Helvetica World"/>
                <a:sym typeface="Helvetica World"/>
              </a:rPr>
              <a:t>enyimpan dan mengelola riwayat pencarian sehingga pengguna dapat melihat kembali kata yang pernah dicari menggunakan Doubly Linked List.</a:t>
            </a:r>
          </a:p>
        </p:txBody>
      </p:sp>
      <p:sp>
        <p:nvSpPr>
          <p:cNvPr name="TextBox 7" id="7"/>
          <p:cNvSpPr txBox="true"/>
          <p:nvPr/>
        </p:nvSpPr>
        <p:spPr>
          <a:xfrm rot="0">
            <a:off x="763486" y="5200650"/>
            <a:ext cx="5261568" cy="404495"/>
          </a:xfrm>
          <a:prstGeom prst="rect">
            <a:avLst/>
          </a:prstGeom>
        </p:spPr>
        <p:txBody>
          <a:bodyPr anchor="t" rtlCol="false" tIns="0" lIns="0" bIns="0" rIns="0">
            <a:spAutoFit/>
          </a:bodyPr>
          <a:lstStyle/>
          <a:p>
            <a:pPr algn="l">
              <a:lnSpc>
                <a:spcPts val="2799"/>
              </a:lnSpc>
            </a:pPr>
            <a:r>
              <a:rPr lang="en-US" sz="2799" b="true">
                <a:solidFill>
                  <a:srgbClr val="000000"/>
                </a:solidFill>
                <a:latin typeface="Helvetica World Bold"/>
                <a:ea typeface="Helvetica World Bold"/>
                <a:cs typeface="Helvetica World Bold"/>
                <a:sym typeface="Helvetica World Bold"/>
              </a:rPr>
              <a:t>Riwayat Pencarian</a:t>
            </a:r>
          </a:p>
        </p:txBody>
      </p:sp>
      <p:sp>
        <p:nvSpPr>
          <p:cNvPr name="TextBox 8" id="8"/>
          <p:cNvSpPr txBox="true"/>
          <p:nvPr/>
        </p:nvSpPr>
        <p:spPr>
          <a:xfrm rot="0">
            <a:off x="6558521" y="5200650"/>
            <a:ext cx="5632178" cy="404495"/>
          </a:xfrm>
          <a:prstGeom prst="rect">
            <a:avLst/>
          </a:prstGeom>
        </p:spPr>
        <p:txBody>
          <a:bodyPr anchor="t" rtlCol="false" tIns="0" lIns="0" bIns="0" rIns="0">
            <a:spAutoFit/>
          </a:bodyPr>
          <a:lstStyle/>
          <a:p>
            <a:pPr algn="l">
              <a:lnSpc>
                <a:spcPts val="2799"/>
              </a:lnSpc>
            </a:pPr>
            <a:r>
              <a:rPr lang="en-US" sz="2799" b="true">
                <a:solidFill>
                  <a:srgbClr val="000000"/>
                </a:solidFill>
                <a:latin typeface="Helvetica World Bold"/>
                <a:ea typeface="Helvetica World Bold"/>
                <a:cs typeface="Helvetica World Bold"/>
                <a:sym typeface="Helvetica World Bold"/>
              </a:rPr>
              <a:t>Ko</a:t>
            </a:r>
            <a:r>
              <a:rPr lang="en-US" b="true" sz="2799">
                <a:solidFill>
                  <a:srgbClr val="000000"/>
                </a:solidFill>
                <a:latin typeface="Helvetica World Bold"/>
                <a:ea typeface="Helvetica World Bold"/>
                <a:cs typeface="Helvetica World Bold"/>
                <a:sym typeface="Helvetica World Bold"/>
              </a:rPr>
              <a:t>reksi Kata</a:t>
            </a:r>
          </a:p>
        </p:txBody>
      </p:sp>
      <p:sp>
        <p:nvSpPr>
          <p:cNvPr name="Freeform 9" id="9"/>
          <p:cNvSpPr/>
          <p:nvPr/>
        </p:nvSpPr>
        <p:spPr>
          <a:xfrm flipH="false" flipV="false" rot="0">
            <a:off x="16899339" y="670808"/>
            <a:ext cx="715784" cy="715784"/>
          </a:xfrm>
          <a:custGeom>
            <a:avLst/>
            <a:gdLst/>
            <a:ahLst/>
            <a:cxnLst/>
            <a:rect r="r" b="b" t="t" l="l"/>
            <a:pathLst>
              <a:path h="715784" w="715784">
                <a:moveTo>
                  <a:pt x="0" y="0"/>
                </a:moveTo>
                <a:lnTo>
                  <a:pt x="715785" y="0"/>
                </a:lnTo>
                <a:lnTo>
                  <a:pt x="715785" y="715784"/>
                </a:lnTo>
                <a:lnTo>
                  <a:pt x="0" y="715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763486" y="3009307"/>
            <a:ext cx="851760" cy="310134"/>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02/02</a:t>
            </a:r>
          </a:p>
        </p:txBody>
      </p:sp>
      <p:sp>
        <p:nvSpPr>
          <p:cNvPr name="TextBox 11" id="11"/>
          <p:cNvSpPr txBox="true"/>
          <p:nvPr/>
        </p:nvSpPr>
        <p:spPr>
          <a:xfrm rot="0">
            <a:off x="6558521" y="5748120"/>
            <a:ext cx="3849962" cy="1312545"/>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M</a:t>
            </a:r>
            <a:r>
              <a:rPr lang="en-US" sz="1799">
                <a:solidFill>
                  <a:srgbClr val="000000"/>
                </a:solidFill>
                <a:latin typeface="Helvetica World"/>
                <a:ea typeface="Helvetica World"/>
                <a:cs typeface="Helvetica World"/>
                <a:sym typeface="Helvetica World"/>
              </a:rPr>
              <a:t>emberikan rekomendasi kata yang benar ketika terjadi kesalahan pengetikan menggunakan algoritma Levenshtein Distance.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TextBox 2" id="2"/>
          <p:cNvSpPr txBox="true"/>
          <p:nvPr/>
        </p:nvSpPr>
        <p:spPr>
          <a:xfrm rot="0">
            <a:off x="1167372" y="1386969"/>
            <a:ext cx="7383417" cy="2104695"/>
          </a:xfrm>
          <a:prstGeom prst="rect">
            <a:avLst/>
          </a:prstGeom>
        </p:spPr>
        <p:txBody>
          <a:bodyPr anchor="t" rtlCol="false" tIns="0" lIns="0" bIns="0" rIns="0">
            <a:spAutoFit/>
          </a:bodyPr>
          <a:lstStyle/>
          <a:p>
            <a:pPr algn="l">
              <a:lnSpc>
                <a:spcPts val="4593"/>
              </a:lnSpc>
            </a:pPr>
            <a:r>
              <a:rPr lang="en-US" b="true" sz="5888" spc="-259">
                <a:solidFill>
                  <a:srgbClr val="000000"/>
                </a:solidFill>
                <a:latin typeface="Helvetica World Bold"/>
                <a:ea typeface="Helvetica World Bold"/>
                <a:cs typeface="Helvetica World Bold"/>
                <a:sym typeface="Helvetica World Bold"/>
              </a:rPr>
              <a:t>Stru</a:t>
            </a:r>
            <a:r>
              <a:rPr lang="en-US" b="true" sz="5888" spc="-259">
                <a:solidFill>
                  <a:srgbClr val="000000"/>
                </a:solidFill>
                <a:latin typeface="Helvetica World Bold"/>
                <a:ea typeface="Helvetica World Bold"/>
                <a:cs typeface="Helvetica World Bold"/>
                <a:sym typeface="Helvetica World Bold"/>
              </a:rPr>
              <a:t>ktur Data yang Digunakan Beserta Alasannya</a:t>
            </a:r>
          </a:p>
        </p:txBody>
      </p:sp>
      <p:sp>
        <p:nvSpPr>
          <p:cNvPr name="TextBox 3" id="3"/>
          <p:cNvSpPr txBox="true"/>
          <p:nvPr/>
        </p:nvSpPr>
        <p:spPr>
          <a:xfrm rot="0">
            <a:off x="15246326" y="9344025"/>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08/18</a:t>
            </a:r>
          </a:p>
        </p:txBody>
      </p:sp>
      <p:sp>
        <p:nvSpPr>
          <p:cNvPr name="TextBox 4" id="4"/>
          <p:cNvSpPr txBox="true"/>
          <p:nvPr/>
        </p:nvSpPr>
        <p:spPr>
          <a:xfrm rot="0">
            <a:off x="7469541" y="5219589"/>
            <a:ext cx="4362995" cy="979170"/>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Di</a:t>
            </a:r>
            <a:r>
              <a:rPr lang="en-US" sz="1799">
                <a:solidFill>
                  <a:srgbClr val="000000"/>
                </a:solidFill>
                <a:latin typeface="Helvetica World"/>
                <a:ea typeface="Helvetica World"/>
                <a:cs typeface="Helvetica World"/>
                <a:sym typeface="Helvetica World"/>
              </a:rPr>
              <a:t>pilih untuk mendukung fitur autocomplete karena mampu mencari kata berdasarkan awalan (prefix) dengan cepat.</a:t>
            </a:r>
          </a:p>
        </p:txBody>
      </p:sp>
      <p:sp>
        <p:nvSpPr>
          <p:cNvPr name="TextBox 5" id="5"/>
          <p:cNvSpPr txBox="true"/>
          <p:nvPr/>
        </p:nvSpPr>
        <p:spPr>
          <a:xfrm rot="0">
            <a:off x="7469541" y="4680289"/>
            <a:ext cx="475506" cy="431996"/>
          </a:xfrm>
          <a:prstGeom prst="rect">
            <a:avLst/>
          </a:prstGeom>
        </p:spPr>
        <p:txBody>
          <a:bodyPr anchor="t" rtlCol="false" tIns="0" lIns="0" bIns="0" rIns="0">
            <a:spAutoFit/>
          </a:bodyPr>
          <a:lstStyle/>
          <a:p>
            <a:pPr algn="l">
              <a:lnSpc>
                <a:spcPts val="3359"/>
              </a:lnSpc>
              <a:spcBef>
                <a:spcPct val="0"/>
              </a:spcBef>
            </a:pPr>
            <a:r>
              <a:rPr lang="en-US" b="true" sz="2400" spc="-105">
                <a:solidFill>
                  <a:srgbClr val="000000"/>
                </a:solidFill>
                <a:latin typeface="Helvetica World Bold"/>
                <a:ea typeface="Helvetica World Bold"/>
                <a:cs typeface="Helvetica World Bold"/>
                <a:sym typeface="Helvetica World Bold"/>
              </a:rPr>
              <a:t>Trie</a:t>
            </a:r>
          </a:p>
        </p:txBody>
      </p:sp>
      <p:sp>
        <p:nvSpPr>
          <p:cNvPr name="TextBox 6" id="6"/>
          <p:cNvSpPr txBox="true"/>
          <p:nvPr/>
        </p:nvSpPr>
        <p:spPr>
          <a:xfrm rot="0">
            <a:off x="7469541" y="7505925"/>
            <a:ext cx="7246400" cy="645795"/>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Digunakan sebagai penyim</a:t>
            </a:r>
            <a:r>
              <a:rPr lang="en-US" sz="1799">
                <a:solidFill>
                  <a:srgbClr val="000000"/>
                </a:solidFill>
                <a:latin typeface="Helvetica World"/>
                <a:ea typeface="Helvetica World"/>
                <a:cs typeface="Helvetica World"/>
                <a:sym typeface="Helvetica World"/>
              </a:rPr>
              <a:t>panan utama karena memiliki waktu pencarian rata-rata O(1), sehingga pencarian kata menjadi lebih efisien.</a:t>
            </a:r>
          </a:p>
        </p:txBody>
      </p:sp>
      <p:sp>
        <p:nvSpPr>
          <p:cNvPr name="TextBox 7" id="7"/>
          <p:cNvSpPr txBox="true"/>
          <p:nvPr/>
        </p:nvSpPr>
        <p:spPr>
          <a:xfrm rot="0">
            <a:off x="7469541" y="6966624"/>
            <a:ext cx="1454795" cy="431996"/>
          </a:xfrm>
          <a:prstGeom prst="rect">
            <a:avLst/>
          </a:prstGeom>
        </p:spPr>
        <p:txBody>
          <a:bodyPr anchor="t" rtlCol="false" tIns="0" lIns="0" bIns="0" rIns="0">
            <a:spAutoFit/>
          </a:bodyPr>
          <a:lstStyle/>
          <a:p>
            <a:pPr algn="l">
              <a:lnSpc>
                <a:spcPts val="3359"/>
              </a:lnSpc>
              <a:spcBef>
                <a:spcPct val="0"/>
              </a:spcBef>
            </a:pPr>
            <a:r>
              <a:rPr lang="en-US" b="true" sz="2400" spc="-105">
                <a:solidFill>
                  <a:srgbClr val="000000"/>
                </a:solidFill>
                <a:latin typeface="Helvetica World Bold"/>
                <a:ea typeface="Helvetica World Bold"/>
                <a:cs typeface="Helvetica World Bold"/>
                <a:sym typeface="Helvetica World Bold"/>
              </a:rPr>
              <a:t>Hash Table</a:t>
            </a:r>
          </a:p>
        </p:txBody>
      </p:sp>
      <p:sp>
        <p:nvSpPr>
          <p:cNvPr name="TextBox 8" id="8"/>
          <p:cNvSpPr txBox="true"/>
          <p:nvPr/>
        </p:nvSpPr>
        <p:spPr>
          <a:xfrm rot="0">
            <a:off x="1205472" y="5219589"/>
            <a:ext cx="4396687" cy="979170"/>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Di</a:t>
            </a:r>
            <a:r>
              <a:rPr lang="en-US" sz="1799">
                <a:solidFill>
                  <a:srgbClr val="000000"/>
                </a:solidFill>
                <a:latin typeface="Helvetica World"/>
                <a:ea typeface="Helvetica World"/>
                <a:cs typeface="Helvetica World"/>
                <a:sym typeface="Helvetica World"/>
              </a:rPr>
              <a:t>pilih untuk mengelola riwayat pencarian karena mendukung navigasi Back dan Forward secara efisien.</a:t>
            </a:r>
          </a:p>
        </p:txBody>
      </p:sp>
      <p:sp>
        <p:nvSpPr>
          <p:cNvPr name="TextBox 9" id="9"/>
          <p:cNvSpPr txBox="true"/>
          <p:nvPr/>
        </p:nvSpPr>
        <p:spPr>
          <a:xfrm rot="0">
            <a:off x="1205472" y="4680289"/>
            <a:ext cx="2479849" cy="431996"/>
          </a:xfrm>
          <a:prstGeom prst="rect">
            <a:avLst/>
          </a:prstGeom>
        </p:spPr>
        <p:txBody>
          <a:bodyPr anchor="t" rtlCol="false" tIns="0" lIns="0" bIns="0" rIns="0">
            <a:spAutoFit/>
          </a:bodyPr>
          <a:lstStyle/>
          <a:p>
            <a:pPr algn="l">
              <a:lnSpc>
                <a:spcPts val="3359"/>
              </a:lnSpc>
              <a:spcBef>
                <a:spcPct val="0"/>
              </a:spcBef>
            </a:pPr>
            <a:r>
              <a:rPr lang="en-US" b="true" sz="2400" spc="-105">
                <a:solidFill>
                  <a:srgbClr val="000000"/>
                </a:solidFill>
                <a:latin typeface="Helvetica World Bold"/>
                <a:ea typeface="Helvetica World Bold"/>
                <a:cs typeface="Helvetica World Bold"/>
                <a:sym typeface="Helvetica World Bold"/>
              </a:rPr>
              <a:t>Doubly Linked List</a:t>
            </a:r>
          </a:p>
        </p:txBody>
      </p:sp>
      <p:sp>
        <p:nvSpPr>
          <p:cNvPr name="TextBox 10" id="10"/>
          <p:cNvSpPr txBox="true"/>
          <p:nvPr/>
        </p:nvSpPr>
        <p:spPr>
          <a:xfrm rot="0">
            <a:off x="13746719" y="5219589"/>
            <a:ext cx="3133619" cy="979170"/>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Dig</a:t>
            </a:r>
            <a:r>
              <a:rPr lang="en-US" sz="1799">
                <a:solidFill>
                  <a:srgbClr val="000000"/>
                </a:solidFill>
                <a:latin typeface="Helvetica World"/>
                <a:ea typeface="Helvetica World"/>
                <a:cs typeface="Helvetica World"/>
                <a:sym typeface="Helvetica World"/>
              </a:rPr>
              <a:t>unakan untuk menyimpan daftar favorit agar tidak terjadi data yang duplikat.</a:t>
            </a:r>
          </a:p>
        </p:txBody>
      </p:sp>
      <p:sp>
        <p:nvSpPr>
          <p:cNvPr name="TextBox 11" id="11"/>
          <p:cNvSpPr txBox="true"/>
          <p:nvPr/>
        </p:nvSpPr>
        <p:spPr>
          <a:xfrm rot="0">
            <a:off x="13746719" y="4680289"/>
            <a:ext cx="441275" cy="431996"/>
          </a:xfrm>
          <a:prstGeom prst="rect">
            <a:avLst/>
          </a:prstGeom>
        </p:spPr>
        <p:txBody>
          <a:bodyPr anchor="t" rtlCol="false" tIns="0" lIns="0" bIns="0" rIns="0">
            <a:spAutoFit/>
          </a:bodyPr>
          <a:lstStyle/>
          <a:p>
            <a:pPr algn="l">
              <a:lnSpc>
                <a:spcPts val="3359"/>
              </a:lnSpc>
              <a:spcBef>
                <a:spcPct val="0"/>
              </a:spcBef>
            </a:pPr>
            <a:r>
              <a:rPr lang="en-US" b="true" sz="2400" spc="-105">
                <a:solidFill>
                  <a:srgbClr val="000000"/>
                </a:solidFill>
                <a:latin typeface="Helvetica World Bold"/>
                <a:ea typeface="Helvetica World Bold"/>
                <a:cs typeface="Helvetica World Bold"/>
                <a:sym typeface="Helvetica World Bold"/>
              </a:rPr>
              <a:t>Set</a:t>
            </a:r>
          </a:p>
        </p:txBody>
      </p:sp>
      <p:sp>
        <p:nvSpPr>
          <p:cNvPr name="TextBox 12" id="12"/>
          <p:cNvSpPr txBox="true"/>
          <p:nvPr/>
        </p:nvSpPr>
        <p:spPr>
          <a:xfrm rot="0">
            <a:off x="1205472" y="7505925"/>
            <a:ext cx="5272674" cy="645795"/>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Dig</a:t>
            </a:r>
            <a:r>
              <a:rPr lang="en-US" sz="1799">
                <a:solidFill>
                  <a:srgbClr val="000000"/>
                </a:solidFill>
                <a:latin typeface="Helvetica World"/>
                <a:ea typeface="Helvetica World"/>
                <a:cs typeface="Helvetica World"/>
                <a:sym typeface="Helvetica World"/>
              </a:rPr>
              <a:t>unakan untuk memberikan saran kata ketika pengguna melakukan kesalahan pengetikan (typo).</a:t>
            </a:r>
          </a:p>
        </p:txBody>
      </p:sp>
      <p:sp>
        <p:nvSpPr>
          <p:cNvPr name="TextBox 13" id="13"/>
          <p:cNvSpPr txBox="true"/>
          <p:nvPr/>
        </p:nvSpPr>
        <p:spPr>
          <a:xfrm rot="0">
            <a:off x="1205472" y="6966624"/>
            <a:ext cx="4241788" cy="431996"/>
          </a:xfrm>
          <a:prstGeom prst="rect">
            <a:avLst/>
          </a:prstGeom>
        </p:spPr>
        <p:txBody>
          <a:bodyPr anchor="t" rtlCol="false" tIns="0" lIns="0" bIns="0" rIns="0">
            <a:spAutoFit/>
          </a:bodyPr>
          <a:lstStyle/>
          <a:p>
            <a:pPr algn="l">
              <a:lnSpc>
                <a:spcPts val="3359"/>
              </a:lnSpc>
              <a:spcBef>
                <a:spcPct val="0"/>
              </a:spcBef>
            </a:pPr>
            <a:r>
              <a:rPr lang="en-US" b="true" sz="2400" spc="-105">
                <a:solidFill>
                  <a:srgbClr val="000000"/>
                </a:solidFill>
                <a:latin typeface="Helvetica World Bold"/>
                <a:ea typeface="Helvetica World Bold"/>
                <a:cs typeface="Helvetica World Bold"/>
                <a:sym typeface="Helvetica World Bold"/>
              </a:rPr>
              <a:t>Algoritma Levenshtein Distance</a:t>
            </a:r>
          </a:p>
        </p:txBody>
      </p:sp>
      <p:sp>
        <p:nvSpPr>
          <p:cNvPr name="Freeform 14" id="14"/>
          <p:cNvSpPr/>
          <p:nvPr/>
        </p:nvSpPr>
        <p:spPr>
          <a:xfrm flipH="false" flipV="false" rot="0">
            <a:off x="15965598" y="1925875"/>
            <a:ext cx="715784" cy="715784"/>
          </a:xfrm>
          <a:custGeom>
            <a:avLst/>
            <a:gdLst/>
            <a:ahLst/>
            <a:cxnLst/>
            <a:rect r="r" b="b" t="t" l="l"/>
            <a:pathLst>
              <a:path h="715784" w="715784">
                <a:moveTo>
                  <a:pt x="0" y="0"/>
                </a:moveTo>
                <a:lnTo>
                  <a:pt x="715784" y="0"/>
                </a:lnTo>
                <a:lnTo>
                  <a:pt x="715784" y="715784"/>
                </a:lnTo>
                <a:lnTo>
                  <a:pt x="0" y="71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51414"/>
        </a:solidFill>
      </p:bgPr>
    </p:bg>
    <p:spTree>
      <p:nvGrpSpPr>
        <p:cNvPr id="1" name=""/>
        <p:cNvGrpSpPr/>
        <p:nvPr/>
      </p:nvGrpSpPr>
      <p:grpSpPr>
        <a:xfrm>
          <a:off x="0" y="0"/>
          <a:ext cx="0" cy="0"/>
          <a:chOff x="0" y="0"/>
          <a:chExt cx="0" cy="0"/>
        </a:xfrm>
      </p:grpSpPr>
      <p:sp>
        <p:nvSpPr>
          <p:cNvPr name="Freeform 2" id="2"/>
          <p:cNvSpPr/>
          <p:nvPr/>
        </p:nvSpPr>
        <p:spPr>
          <a:xfrm flipH="true" flipV="false" rot="6428483">
            <a:off x="9445146" y="-1281267"/>
            <a:ext cx="20885479" cy="13138865"/>
          </a:xfrm>
          <a:custGeom>
            <a:avLst/>
            <a:gdLst/>
            <a:ahLst/>
            <a:cxnLst/>
            <a:rect r="r" b="b" t="t" l="l"/>
            <a:pathLst>
              <a:path h="13138865" w="20885479">
                <a:moveTo>
                  <a:pt x="20885478" y="0"/>
                </a:moveTo>
                <a:lnTo>
                  <a:pt x="0" y="0"/>
                </a:lnTo>
                <a:lnTo>
                  <a:pt x="0" y="13138865"/>
                </a:lnTo>
                <a:lnTo>
                  <a:pt x="20885478" y="13138865"/>
                </a:lnTo>
                <a:lnTo>
                  <a:pt x="20885478" y="0"/>
                </a:lnTo>
                <a:close/>
              </a:path>
            </a:pathLst>
          </a:custGeom>
          <a:blipFill>
            <a:blip r:embed="rId2"/>
            <a:stretch>
              <a:fillRect l="0" t="0" r="0" b="0"/>
            </a:stretch>
          </a:blipFill>
        </p:spPr>
      </p:sp>
      <p:sp>
        <p:nvSpPr>
          <p:cNvPr name="Freeform 3" id="3"/>
          <p:cNvSpPr/>
          <p:nvPr/>
        </p:nvSpPr>
        <p:spPr>
          <a:xfrm flipH="false" flipV="false" rot="-10800000">
            <a:off x="5958907" y="4963938"/>
            <a:ext cx="392485" cy="179562"/>
          </a:xfrm>
          <a:custGeom>
            <a:avLst/>
            <a:gdLst/>
            <a:ahLst/>
            <a:cxnLst/>
            <a:rect r="r" b="b" t="t" l="l"/>
            <a:pathLst>
              <a:path h="179562" w="392485">
                <a:moveTo>
                  <a:pt x="0" y="0"/>
                </a:moveTo>
                <a:lnTo>
                  <a:pt x="392486" y="0"/>
                </a:lnTo>
                <a:lnTo>
                  <a:pt x="392486" y="179562"/>
                </a:lnTo>
                <a:lnTo>
                  <a:pt x="0" y="1795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5418658" y="9344025"/>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FEF8EF"/>
                </a:solidFill>
                <a:latin typeface="Helvetica World Bold"/>
                <a:ea typeface="Helvetica World Bold"/>
                <a:cs typeface="Helvetica World Bold"/>
                <a:sym typeface="Helvetica World Bold"/>
              </a:rPr>
              <a:t>09</a:t>
            </a:r>
            <a:r>
              <a:rPr lang="en-US" b="true" sz="2400" spc="-105">
                <a:solidFill>
                  <a:srgbClr val="FEF8EF"/>
                </a:solidFill>
                <a:latin typeface="Helvetica World Bold"/>
                <a:ea typeface="Helvetica World Bold"/>
                <a:cs typeface="Helvetica World Bold"/>
                <a:sym typeface="Helvetica World Bold"/>
              </a:rPr>
              <a:t>/18</a:t>
            </a:r>
          </a:p>
        </p:txBody>
      </p:sp>
      <p:sp>
        <p:nvSpPr>
          <p:cNvPr name="TextBox 5" id="5"/>
          <p:cNvSpPr txBox="true"/>
          <p:nvPr/>
        </p:nvSpPr>
        <p:spPr>
          <a:xfrm rot="0">
            <a:off x="757831" y="1552575"/>
            <a:ext cx="13883966" cy="1508080"/>
          </a:xfrm>
          <a:prstGeom prst="rect">
            <a:avLst/>
          </a:prstGeom>
        </p:spPr>
        <p:txBody>
          <a:bodyPr anchor="t" rtlCol="false" tIns="0" lIns="0" bIns="0" rIns="0">
            <a:spAutoFit/>
          </a:bodyPr>
          <a:lstStyle/>
          <a:p>
            <a:pPr algn="l">
              <a:lnSpc>
                <a:spcPts val="9272"/>
              </a:lnSpc>
            </a:pPr>
            <a:r>
              <a:rPr lang="en-US" b="true" sz="11887" spc="-523">
                <a:solidFill>
                  <a:srgbClr val="FEF8EF"/>
                </a:solidFill>
                <a:latin typeface="Helvetica World Bold"/>
                <a:ea typeface="Helvetica World Bold"/>
                <a:cs typeface="Helvetica World Bold"/>
                <a:sym typeface="Helvetica World Bold"/>
              </a:rPr>
              <a:t>Ars</a:t>
            </a:r>
            <a:r>
              <a:rPr lang="en-US" b="true" sz="11887" spc="-523">
                <a:solidFill>
                  <a:srgbClr val="FEF8EF"/>
                </a:solidFill>
                <a:latin typeface="Helvetica World Bold"/>
                <a:ea typeface="Helvetica World Bold"/>
                <a:cs typeface="Helvetica World Bold"/>
                <a:sym typeface="Helvetica World Bold"/>
              </a:rPr>
              <a:t>itektur Sistem</a:t>
            </a:r>
          </a:p>
        </p:txBody>
      </p:sp>
      <p:sp>
        <p:nvSpPr>
          <p:cNvPr name="TextBox 6" id="6"/>
          <p:cNvSpPr txBox="true"/>
          <p:nvPr/>
        </p:nvSpPr>
        <p:spPr>
          <a:xfrm rot="0">
            <a:off x="757831" y="4608080"/>
            <a:ext cx="4733605" cy="1312545"/>
          </a:xfrm>
          <a:prstGeom prst="rect">
            <a:avLst/>
          </a:prstGeom>
        </p:spPr>
        <p:txBody>
          <a:bodyPr anchor="t" rtlCol="false" tIns="0" lIns="0" bIns="0" rIns="0">
            <a:spAutoFit/>
          </a:bodyPr>
          <a:lstStyle/>
          <a:p>
            <a:pPr algn="l">
              <a:lnSpc>
                <a:spcPts val="2699"/>
              </a:lnSpc>
            </a:pPr>
            <a:r>
              <a:rPr lang="en-US" sz="1799">
                <a:solidFill>
                  <a:srgbClr val="FEF8EF"/>
                </a:solidFill>
                <a:latin typeface="Helvetica World"/>
                <a:ea typeface="Helvetica World"/>
                <a:cs typeface="Helvetica World"/>
                <a:sym typeface="Helvetica World"/>
              </a:rPr>
              <a:t>Menyed</a:t>
            </a:r>
            <a:r>
              <a:rPr lang="en-US" sz="1799">
                <a:solidFill>
                  <a:srgbClr val="FEF8EF"/>
                </a:solidFill>
                <a:latin typeface="Helvetica World"/>
                <a:ea typeface="Helvetica World"/>
                <a:cs typeface="Helvetica World"/>
                <a:sym typeface="Helvetica World"/>
              </a:rPr>
              <a:t>iakan antarmuka pengguna (GUI) menggunakan Tkinter untuk melakukan pencarian, melihat hasil, riwayat, favorit, dan mode kuis.</a:t>
            </a:r>
          </a:p>
        </p:txBody>
      </p:sp>
      <p:sp>
        <p:nvSpPr>
          <p:cNvPr name="TextBox 7" id="7"/>
          <p:cNvSpPr txBox="true"/>
          <p:nvPr/>
        </p:nvSpPr>
        <p:spPr>
          <a:xfrm rot="0">
            <a:off x="757831" y="4068780"/>
            <a:ext cx="2507754" cy="431996"/>
          </a:xfrm>
          <a:prstGeom prst="rect">
            <a:avLst/>
          </a:prstGeom>
        </p:spPr>
        <p:txBody>
          <a:bodyPr anchor="t" rtlCol="false" tIns="0" lIns="0" bIns="0" rIns="0">
            <a:spAutoFit/>
          </a:bodyPr>
          <a:lstStyle/>
          <a:p>
            <a:pPr algn="l">
              <a:lnSpc>
                <a:spcPts val="3359"/>
              </a:lnSpc>
              <a:spcBef>
                <a:spcPct val="0"/>
              </a:spcBef>
            </a:pPr>
            <a:r>
              <a:rPr lang="en-US" b="true" sz="2400" spc="-105">
                <a:solidFill>
                  <a:srgbClr val="FEF8EF"/>
                </a:solidFill>
                <a:latin typeface="Helvetica World Bold"/>
                <a:ea typeface="Helvetica World Bold"/>
                <a:cs typeface="Helvetica World Bold"/>
                <a:sym typeface="Helvetica World Bold"/>
              </a:rPr>
              <a:t>Presentation Layer</a:t>
            </a:r>
          </a:p>
        </p:txBody>
      </p:sp>
      <p:sp>
        <p:nvSpPr>
          <p:cNvPr name="TextBox 8" id="8"/>
          <p:cNvSpPr txBox="true"/>
          <p:nvPr/>
        </p:nvSpPr>
        <p:spPr>
          <a:xfrm rot="0">
            <a:off x="7201546" y="4068780"/>
            <a:ext cx="2864197" cy="431996"/>
          </a:xfrm>
          <a:prstGeom prst="rect">
            <a:avLst/>
          </a:prstGeom>
        </p:spPr>
        <p:txBody>
          <a:bodyPr anchor="t" rtlCol="false" tIns="0" lIns="0" bIns="0" rIns="0">
            <a:spAutoFit/>
          </a:bodyPr>
          <a:lstStyle/>
          <a:p>
            <a:pPr algn="l">
              <a:lnSpc>
                <a:spcPts val="3359"/>
              </a:lnSpc>
              <a:spcBef>
                <a:spcPct val="0"/>
              </a:spcBef>
            </a:pPr>
            <a:r>
              <a:rPr lang="en-US" b="true" sz="2400" spc="-105">
                <a:solidFill>
                  <a:srgbClr val="FEF8EF"/>
                </a:solidFill>
                <a:latin typeface="Helvetica World Bold"/>
                <a:ea typeface="Helvetica World Bold"/>
                <a:cs typeface="Helvetica World Bold"/>
                <a:sym typeface="Helvetica World Bold"/>
              </a:rPr>
              <a:t>Business Logic Layer</a:t>
            </a:r>
          </a:p>
        </p:txBody>
      </p:sp>
      <p:sp>
        <p:nvSpPr>
          <p:cNvPr name="TextBox 9" id="9"/>
          <p:cNvSpPr txBox="true"/>
          <p:nvPr/>
        </p:nvSpPr>
        <p:spPr>
          <a:xfrm rot="0">
            <a:off x="7201546" y="4608080"/>
            <a:ext cx="3884908" cy="1312545"/>
          </a:xfrm>
          <a:prstGeom prst="rect">
            <a:avLst/>
          </a:prstGeom>
        </p:spPr>
        <p:txBody>
          <a:bodyPr anchor="t" rtlCol="false" tIns="0" lIns="0" bIns="0" rIns="0">
            <a:spAutoFit/>
          </a:bodyPr>
          <a:lstStyle/>
          <a:p>
            <a:pPr algn="l">
              <a:lnSpc>
                <a:spcPts val="2699"/>
              </a:lnSpc>
            </a:pPr>
            <a:r>
              <a:rPr lang="en-US" sz="1799">
                <a:solidFill>
                  <a:srgbClr val="FEF8EF"/>
                </a:solidFill>
                <a:latin typeface="Helvetica World"/>
                <a:ea typeface="Helvetica World"/>
                <a:cs typeface="Helvetica World"/>
                <a:sym typeface="Helvetica World"/>
              </a:rPr>
              <a:t>Mengelola seluruh proses a</a:t>
            </a:r>
            <a:r>
              <a:rPr lang="en-US" sz="1799">
                <a:solidFill>
                  <a:srgbClr val="FEF8EF"/>
                </a:solidFill>
                <a:latin typeface="Helvetica World"/>
                <a:ea typeface="Helvetica World"/>
                <a:cs typeface="Helvetica World"/>
                <a:sym typeface="Helvetica World"/>
              </a:rPr>
              <a:t>plikasi, seperti pencarian kata, autocomplete, koreksi kata, dan pengolahan data sesuai input pengguna.</a:t>
            </a:r>
          </a:p>
        </p:txBody>
      </p:sp>
      <p:sp>
        <p:nvSpPr>
          <p:cNvPr name="TextBox 10" id="10"/>
          <p:cNvSpPr txBox="true"/>
          <p:nvPr/>
        </p:nvSpPr>
        <p:spPr>
          <a:xfrm rot="0">
            <a:off x="757831" y="7506156"/>
            <a:ext cx="4619751" cy="1312545"/>
          </a:xfrm>
          <a:prstGeom prst="rect">
            <a:avLst/>
          </a:prstGeom>
        </p:spPr>
        <p:txBody>
          <a:bodyPr anchor="t" rtlCol="false" tIns="0" lIns="0" bIns="0" rIns="0">
            <a:spAutoFit/>
          </a:bodyPr>
          <a:lstStyle/>
          <a:p>
            <a:pPr algn="l">
              <a:lnSpc>
                <a:spcPts val="2699"/>
              </a:lnSpc>
            </a:pPr>
            <a:r>
              <a:rPr lang="en-US" sz="1799">
                <a:solidFill>
                  <a:srgbClr val="FEF8EF"/>
                </a:solidFill>
                <a:latin typeface="Helvetica World"/>
                <a:ea typeface="Helvetica World"/>
                <a:cs typeface="Helvetica World"/>
                <a:sym typeface="Helvetica World"/>
              </a:rPr>
              <a:t>M</a:t>
            </a:r>
            <a:r>
              <a:rPr lang="en-US" sz="1799">
                <a:solidFill>
                  <a:srgbClr val="FEF8EF"/>
                </a:solidFill>
                <a:latin typeface="Helvetica World"/>
                <a:ea typeface="Helvetica World"/>
                <a:cs typeface="Helvetica World"/>
                <a:sym typeface="Helvetica World"/>
              </a:rPr>
              <a:t>enggunakan Trie untuk autocomplete, Hash Table untuk pencarian cepat, Doubly Linked List untuk riwayat pencarian, dan Set untuk menyimpan daftar favorit.</a:t>
            </a:r>
          </a:p>
        </p:txBody>
      </p:sp>
      <p:sp>
        <p:nvSpPr>
          <p:cNvPr name="TextBox 11" id="11"/>
          <p:cNvSpPr txBox="true"/>
          <p:nvPr/>
        </p:nvSpPr>
        <p:spPr>
          <a:xfrm rot="0">
            <a:off x="757831" y="6953867"/>
            <a:ext cx="2740112" cy="431996"/>
          </a:xfrm>
          <a:prstGeom prst="rect">
            <a:avLst/>
          </a:prstGeom>
        </p:spPr>
        <p:txBody>
          <a:bodyPr anchor="t" rtlCol="false" tIns="0" lIns="0" bIns="0" rIns="0">
            <a:spAutoFit/>
          </a:bodyPr>
          <a:lstStyle/>
          <a:p>
            <a:pPr algn="l">
              <a:lnSpc>
                <a:spcPts val="3359"/>
              </a:lnSpc>
              <a:spcBef>
                <a:spcPct val="0"/>
              </a:spcBef>
            </a:pPr>
            <a:r>
              <a:rPr lang="en-US" b="true" sz="2400" spc="-105">
                <a:solidFill>
                  <a:srgbClr val="FEF8EF"/>
                </a:solidFill>
                <a:latin typeface="Helvetica World Bold"/>
                <a:ea typeface="Helvetica World Bold"/>
                <a:cs typeface="Helvetica World Bold"/>
                <a:sym typeface="Helvetica World Bold"/>
              </a:rPr>
              <a:t>Data Structure Layer</a:t>
            </a:r>
          </a:p>
        </p:txBody>
      </p:sp>
      <p:sp>
        <p:nvSpPr>
          <p:cNvPr name="TextBox 12" id="12"/>
          <p:cNvSpPr txBox="true"/>
          <p:nvPr/>
        </p:nvSpPr>
        <p:spPr>
          <a:xfrm rot="0">
            <a:off x="7201546" y="7506156"/>
            <a:ext cx="3530076" cy="1312545"/>
          </a:xfrm>
          <a:prstGeom prst="rect">
            <a:avLst/>
          </a:prstGeom>
        </p:spPr>
        <p:txBody>
          <a:bodyPr anchor="t" rtlCol="false" tIns="0" lIns="0" bIns="0" rIns="0">
            <a:spAutoFit/>
          </a:bodyPr>
          <a:lstStyle/>
          <a:p>
            <a:pPr algn="l">
              <a:lnSpc>
                <a:spcPts val="2699"/>
              </a:lnSpc>
            </a:pPr>
            <a:r>
              <a:rPr lang="en-US" sz="1799">
                <a:solidFill>
                  <a:srgbClr val="FEF8EF"/>
                </a:solidFill>
                <a:latin typeface="Helvetica World"/>
                <a:ea typeface="Helvetica World"/>
                <a:cs typeface="Helvetica World"/>
                <a:sym typeface="Helvetica World"/>
              </a:rPr>
              <a:t>Meny</a:t>
            </a:r>
            <a:r>
              <a:rPr lang="en-US" sz="1799">
                <a:solidFill>
                  <a:srgbClr val="FEF8EF"/>
                </a:solidFill>
                <a:latin typeface="Helvetica World"/>
                <a:ea typeface="Helvetica World"/>
                <a:cs typeface="Helvetica World"/>
                <a:sym typeface="Helvetica World"/>
              </a:rPr>
              <a:t>impan data kamus dan favorit dalam file JSON yang dibaca dan dikelola oleh aplikasi saat dijalankan.</a:t>
            </a:r>
          </a:p>
        </p:txBody>
      </p:sp>
      <p:sp>
        <p:nvSpPr>
          <p:cNvPr name="TextBox 13" id="13"/>
          <p:cNvSpPr txBox="true"/>
          <p:nvPr/>
        </p:nvSpPr>
        <p:spPr>
          <a:xfrm rot="0">
            <a:off x="7201546" y="7023492"/>
            <a:ext cx="1468301" cy="431996"/>
          </a:xfrm>
          <a:prstGeom prst="rect">
            <a:avLst/>
          </a:prstGeom>
        </p:spPr>
        <p:txBody>
          <a:bodyPr anchor="t" rtlCol="false" tIns="0" lIns="0" bIns="0" rIns="0">
            <a:spAutoFit/>
          </a:bodyPr>
          <a:lstStyle/>
          <a:p>
            <a:pPr algn="l">
              <a:lnSpc>
                <a:spcPts val="3359"/>
              </a:lnSpc>
              <a:spcBef>
                <a:spcPct val="0"/>
              </a:spcBef>
            </a:pPr>
            <a:r>
              <a:rPr lang="en-US" b="true" sz="2400" spc="-105">
                <a:solidFill>
                  <a:srgbClr val="FEF8EF"/>
                </a:solidFill>
                <a:latin typeface="Helvetica World Bold"/>
                <a:ea typeface="Helvetica World Bold"/>
                <a:cs typeface="Helvetica World Bold"/>
                <a:sym typeface="Helvetica World Bold"/>
              </a:rPr>
              <a:t>Data Layer</a:t>
            </a:r>
          </a:p>
        </p:txBody>
      </p:sp>
      <p:sp>
        <p:nvSpPr>
          <p:cNvPr name="Freeform 14" id="14"/>
          <p:cNvSpPr/>
          <p:nvPr/>
        </p:nvSpPr>
        <p:spPr>
          <a:xfrm flipH="false" flipV="false" rot="-10800000">
            <a:off x="6111307" y="8006679"/>
            <a:ext cx="392485" cy="179562"/>
          </a:xfrm>
          <a:custGeom>
            <a:avLst/>
            <a:gdLst/>
            <a:ahLst/>
            <a:cxnLst/>
            <a:rect r="r" b="b" t="t" l="l"/>
            <a:pathLst>
              <a:path h="179562" w="392485">
                <a:moveTo>
                  <a:pt x="0" y="0"/>
                </a:moveTo>
                <a:lnTo>
                  <a:pt x="392486" y="0"/>
                </a:lnTo>
                <a:lnTo>
                  <a:pt x="392486" y="179562"/>
                </a:lnTo>
                <a:lnTo>
                  <a:pt x="0" y="17956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51414"/>
        </a:solidFill>
      </p:bgPr>
    </p:bg>
    <p:spTree>
      <p:nvGrpSpPr>
        <p:cNvPr id="1" name=""/>
        <p:cNvGrpSpPr/>
        <p:nvPr/>
      </p:nvGrpSpPr>
      <p:grpSpPr>
        <a:xfrm>
          <a:off x="0" y="0"/>
          <a:ext cx="0" cy="0"/>
          <a:chOff x="0" y="0"/>
          <a:chExt cx="0" cy="0"/>
        </a:xfrm>
      </p:grpSpPr>
      <p:sp>
        <p:nvSpPr>
          <p:cNvPr name="Freeform 2" id="2"/>
          <p:cNvSpPr/>
          <p:nvPr/>
        </p:nvSpPr>
        <p:spPr>
          <a:xfrm flipH="true" flipV="false" rot="-5098567">
            <a:off x="-13120775" y="-2595996"/>
            <a:ext cx="20885479" cy="13138865"/>
          </a:xfrm>
          <a:custGeom>
            <a:avLst/>
            <a:gdLst/>
            <a:ahLst/>
            <a:cxnLst/>
            <a:rect r="r" b="b" t="t" l="l"/>
            <a:pathLst>
              <a:path h="13138865" w="20885479">
                <a:moveTo>
                  <a:pt x="20885479" y="0"/>
                </a:moveTo>
                <a:lnTo>
                  <a:pt x="0" y="0"/>
                </a:lnTo>
                <a:lnTo>
                  <a:pt x="0" y="13138865"/>
                </a:lnTo>
                <a:lnTo>
                  <a:pt x="20885479" y="13138865"/>
                </a:lnTo>
                <a:lnTo>
                  <a:pt x="20885479" y="0"/>
                </a:lnTo>
                <a:close/>
              </a:path>
            </a:pathLst>
          </a:custGeom>
          <a:blipFill>
            <a:blip r:embed="rId2"/>
            <a:stretch>
              <a:fillRect l="0" t="0" r="0" b="0"/>
            </a:stretch>
          </a:blipFill>
        </p:spPr>
      </p:sp>
      <p:sp>
        <p:nvSpPr>
          <p:cNvPr name="TextBox 3" id="3"/>
          <p:cNvSpPr txBox="true"/>
          <p:nvPr/>
        </p:nvSpPr>
        <p:spPr>
          <a:xfrm rot="5400000">
            <a:off x="12675733" y="4352424"/>
            <a:ext cx="7947004" cy="1508080"/>
          </a:xfrm>
          <a:prstGeom prst="rect">
            <a:avLst/>
          </a:prstGeom>
        </p:spPr>
        <p:txBody>
          <a:bodyPr anchor="t" rtlCol="false" tIns="0" lIns="0" bIns="0" rIns="0">
            <a:spAutoFit/>
          </a:bodyPr>
          <a:lstStyle/>
          <a:p>
            <a:pPr algn="l">
              <a:lnSpc>
                <a:spcPts val="9272"/>
              </a:lnSpc>
            </a:pPr>
            <a:r>
              <a:rPr lang="en-US" b="true" sz="11887" spc="-523">
                <a:solidFill>
                  <a:srgbClr val="FEF8EF"/>
                </a:solidFill>
                <a:latin typeface="Helvetica World Bold"/>
                <a:ea typeface="Helvetica World Bold"/>
                <a:cs typeface="Helvetica World Bold"/>
                <a:sym typeface="Helvetica World Bold"/>
              </a:rPr>
              <a:t>Flowchart</a:t>
            </a:r>
          </a:p>
        </p:txBody>
      </p:sp>
      <p:sp>
        <p:nvSpPr>
          <p:cNvPr name="Freeform 4" id="4"/>
          <p:cNvSpPr/>
          <p:nvPr/>
        </p:nvSpPr>
        <p:spPr>
          <a:xfrm flipH="false" flipV="false" rot="-10800000">
            <a:off x="16365935" y="8495404"/>
            <a:ext cx="715784" cy="715784"/>
          </a:xfrm>
          <a:custGeom>
            <a:avLst/>
            <a:gdLst/>
            <a:ahLst/>
            <a:cxnLst/>
            <a:rect r="r" b="b" t="t" l="l"/>
            <a:pathLst>
              <a:path h="715784" w="715784">
                <a:moveTo>
                  <a:pt x="0" y="0"/>
                </a:moveTo>
                <a:lnTo>
                  <a:pt x="715784" y="0"/>
                </a:lnTo>
                <a:lnTo>
                  <a:pt x="715784" y="715784"/>
                </a:lnTo>
                <a:lnTo>
                  <a:pt x="0" y="715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747608" y="910111"/>
            <a:ext cx="15003720" cy="8392706"/>
          </a:xfrm>
          <a:custGeom>
            <a:avLst/>
            <a:gdLst/>
            <a:ahLst/>
            <a:cxnLst/>
            <a:rect r="r" b="b" t="t" l="l"/>
            <a:pathLst>
              <a:path h="8392706" w="15003720">
                <a:moveTo>
                  <a:pt x="0" y="0"/>
                </a:moveTo>
                <a:lnTo>
                  <a:pt x="15003720" y="0"/>
                </a:lnTo>
                <a:lnTo>
                  <a:pt x="15003720" y="8392706"/>
                </a:lnTo>
                <a:lnTo>
                  <a:pt x="0" y="8392706"/>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Freeform 2" id="2"/>
          <p:cNvSpPr/>
          <p:nvPr/>
        </p:nvSpPr>
        <p:spPr>
          <a:xfrm flipH="false" flipV="false" rot="-8404214">
            <a:off x="6456600" y="-1220502"/>
            <a:ext cx="20885479" cy="13138865"/>
          </a:xfrm>
          <a:custGeom>
            <a:avLst/>
            <a:gdLst/>
            <a:ahLst/>
            <a:cxnLst/>
            <a:rect r="r" b="b" t="t" l="l"/>
            <a:pathLst>
              <a:path h="13138865" w="20885479">
                <a:moveTo>
                  <a:pt x="0" y="0"/>
                </a:moveTo>
                <a:lnTo>
                  <a:pt x="20885479" y="0"/>
                </a:lnTo>
                <a:lnTo>
                  <a:pt x="20885479" y="13138864"/>
                </a:lnTo>
                <a:lnTo>
                  <a:pt x="0" y="13138864"/>
                </a:lnTo>
                <a:lnTo>
                  <a:pt x="0" y="0"/>
                </a:lnTo>
                <a:close/>
              </a:path>
            </a:pathLst>
          </a:custGeom>
          <a:blipFill>
            <a:blip r:embed="rId2"/>
            <a:stretch>
              <a:fillRect l="0" t="0" r="0" b="0"/>
            </a:stretch>
          </a:blipFill>
        </p:spPr>
      </p:sp>
      <p:sp>
        <p:nvSpPr>
          <p:cNvPr name="TextBox 3" id="3"/>
          <p:cNvSpPr txBox="true"/>
          <p:nvPr/>
        </p:nvSpPr>
        <p:spPr>
          <a:xfrm rot="0">
            <a:off x="15418658" y="9344025"/>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11</a:t>
            </a:r>
            <a:r>
              <a:rPr lang="en-US" b="true" sz="2400" spc="-105">
                <a:solidFill>
                  <a:srgbClr val="000000"/>
                </a:solidFill>
                <a:latin typeface="Helvetica World Bold"/>
                <a:ea typeface="Helvetica World Bold"/>
                <a:cs typeface="Helvetica World Bold"/>
                <a:sym typeface="Helvetica World Bold"/>
              </a:rPr>
              <a:t>/18</a:t>
            </a:r>
          </a:p>
        </p:txBody>
      </p:sp>
      <p:sp>
        <p:nvSpPr>
          <p:cNvPr name="TextBox 4" id="4"/>
          <p:cNvSpPr txBox="true"/>
          <p:nvPr/>
        </p:nvSpPr>
        <p:spPr>
          <a:xfrm rot="0">
            <a:off x="672876" y="9344025"/>
            <a:ext cx="4231734" cy="307678"/>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Kelompok 11</a:t>
            </a:r>
          </a:p>
        </p:txBody>
      </p:sp>
      <p:sp>
        <p:nvSpPr>
          <p:cNvPr name="Freeform 5" id="5"/>
          <p:cNvSpPr/>
          <p:nvPr/>
        </p:nvSpPr>
        <p:spPr>
          <a:xfrm flipH="false" flipV="false" rot="0">
            <a:off x="16899339" y="670808"/>
            <a:ext cx="715784" cy="715784"/>
          </a:xfrm>
          <a:custGeom>
            <a:avLst/>
            <a:gdLst/>
            <a:ahLst/>
            <a:cxnLst/>
            <a:rect r="r" b="b" t="t" l="l"/>
            <a:pathLst>
              <a:path h="715784" w="715784">
                <a:moveTo>
                  <a:pt x="0" y="0"/>
                </a:moveTo>
                <a:lnTo>
                  <a:pt x="715785" y="0"/>
                </a:lnTo>
                <a:lnTo>
                  <a:pt x="715785" y="715784"/>
                </a:lnTo>
                <a:lnTo>
                  <a:pt x="0" y="715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606383" y="3819113"/>
            <a:ext cx="13997370" cy="2858324"/>
          </a:xfrm>
          <a:prstGeom prst="rect">
            <a:avLst/>
          </a:prstGeom>
        </p:spPr>
        <p:txBody>
          <a:bodyPr anchor="t" rtlCol="false" tIns="0" lIns="0" bIns="0" rIns="0">
            <a:spAutoFit/>
          </a:bodyPr>
          <a:lstStyle/>
          <a:p>
            <a:pPr algn="l">
              <a:lnSpc>
                <a:spcPts val="9272"/>
              </a:lnSpc>
            </a:pPr>
            <a:r>
              <a:rPr lang="en-US" sz="11887" spc="-523" b="true">
                <a:solidFill>
                  <a:srgbClr val="000000"/>
                </a:solidFill>
                <a:latin typeface="Helvetica World Bold"/>
                <a:ea typeface="Helvetica World Bold"/>
                <a:cs typeface="Helvetica World Bold"/>
                <a:sym typeface="Helvetica World Bold"/>
              </a:rPr>
              <a:t>Demonstrasi</a:t>
            </a:r>
          </a:p>
          <a:p>
            <a:pPr algn="l">
              <a:lnSpc>
                <a:spcPts val="9272"/>
              </a:lnSpc>
            </a:pPr>
            <a:r>
              <a:rPr lang="en-US" b="true" sz="11887" spc="-523">
                <a:solidFill>
                  <a:srgbClr val="000000"/>
                </a:solidFill>
                <a:latin typeface="Helvetica World Bold"/>
                <a:ea typeface="Helvetica World Bold"/>
                <a:cs typeface="Helvetica World Bold"/>
                <a:sym typeface="Helvetica World Bold"/>
              </a:rPr>
              <a:t>Aplikasi (Live Demo)</a:t>
            </a:r>
          </a:p>
        </p:txBody>
      </p:sp>
      <p:sp>
        <p:nvSpPr>
          <p:cNvPr name="TextBox 7" id="7"/>
          <p:cNvSpPr txBox="true"/>
          <p:nvPr/>
        </p:nvSpPr>
        <p:spPr>
          <a:xfrm rot="0">
            <a:off x="1268082" y="680100"/>
            <a:ext cx="3416127" cy="567848"/>
          </a:xfrm>
          <a:prstGeom prst="rect">
            <a:avLst/>
          </a:prstGeom>
        </p:spPr>
        <p:txBody>
          <a:bodyPr anchor="t" rtlCol="false" tIns="0" lIns="0" bIns="0" rIns="0">
            <a:spAutoFit/>
          </a:bodyPr>
          <a:lstStyle/>
          <a:p>
            <a:pPr algn="l">
              <a:lnSpc>
                <a:spcPts val="3746"/>
              </a:lnSpc>
            </a:pPr>
            <a:r>
              <a:rPr lang="en-US" sz="4306" spc="-189" b="true">
                <a:solidFill>
                  <a:srgbClr val="000000"/>
                </a:solidFill>
                <a:latin typeface="Helvetica World Bold"/>
                <a:ea typeface="Helvetica World Bold"/>
                <a:cs typeface="Helvetica World Bold"/>
                <a:sym typeface="Helvetica World Bold"/>
              </a:rPr>
              <a:t>Struktur Data</a:t>
            </a:r>
          </a:p>
        </p:txBody>
      </p:sp>
      <p:sp>
        <p:nvSpPr>
          <p:cNvPr name="Freeform 8" id="8"/>
          <p:cNvSpPr/>
          <p:nvPr/>
        </p:nvSpPr>
        <p:spPr>
          <a:xfrm flipH="false" flipV="false" rot="0">
            <a:off x="696502" y="723224"/>
            <a:ext cx="381235" cy="394134"/>
          </a:xfrm>
          <a:custGeom>
            <a:avLst/>
            <a:gdLst/>
            <a:ahLst/>
            <a:cxnLst/>
            <a:rect r="r" b="b" t="t" l="l"/>
            <a:pathLst>
              <a:path h="394134" w="381235">
                <a:moveTo>
                  <a:pt x="0" y="0"/>
                </a:moveTo>
                <a:lnTo>
                  <a:pt x="381235" y="0"/>
                </a:lnTo>
                <a:lnTo>
                  <a:pt x="381235" y="394134"/>
                </a:lnTo>
                <a:lnTo>
                  <a:pt x="0" y="3941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Freeform 2" id="2"/>
          <p:cNvSpPr/>
          <p:nvPr/>
        </p:nvSpPr>
        <p:spPr>
          <a:xfrm flipH="false" flipV="false" rot="0">
            <a:off x="1625102" y="680333"/>
            <a:ext cx="715784" cy="715784"/>
          </a:xfrm>
          <a:custGeom>
            <a:avLst/>
            <a:gdLst/>
            <a:ahLst/>
            <a:cxnLst/>
            <a:rect r="r" b="b" t="t" l="l"/>
            <a:pathLst>
              <a:path h="715784" w="715784">
                <a:moveTo>
                  <a:pt x="0" y="0"/>
                </a:moveTo>
                <a:lnTo>
                  <a:pt x="715785" y="0"/>
                </a:lnTo>
                <a:lnTo>
                  <a:pt x="715785" y="715784"/>
                </a:lnTo>
                <a:lnTo>
                  <a:pt x="0" y="71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Object 3" id="3"/>
          <p:cNvGraphicFramePr/>
          <p:nvPr/>
        </p:nvGraphicFramePr>
        <p:xfrm>
          <a:off x="3329080" y="543883"/>
          <a:ext cx="10915650" cy="6115050"/>
        </p:xfrm>
        <a:graphic>
          <a:graphicData uri="http://schemas.openxmlformats.org/presentationml/2006/ole">
            <p:oleObj imgW="13093700" imgH="82931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sp>
        <p:nvSpPr>
          <p:cNvPr name="TextBox 4" id="4"/>
          <p:cNvSpPr txBox="true"/>
          <p:nvPr/>
        </p:nvSpPr>
        <p:spPr>
          <a:xfrm rot="-5400000">
            <a:off x="170032" y="1615202"/>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12/18</a:t>
            </a:r>
          </a:p>
        </p:txBody>
      </p:sp>
      <p:sp>
        <p:nvSpPr>
          <p:cNvPr name="TextBox 5" id="5"/>
          <p:cNvSpPr txBox="true"/>
          <p:nvPr/>
        </p:nvSpPr>
        <p:spPr>
          <a:xfrm rot="-5400000">
            <a:off x="-1947544" y="5247542"/>
            <a:ext cx="7383417" cy="1428457"/>
          </a:xfrm>
          <a:prstGeom prst="rect">
            <a:avLst/>
          </a:prstGeom>
        </p:spPr>
        <p:txBody>
          <a:bodyPr anchor="t" rtlCol="false" tIns="0" lIns="0" bIns="0" rIns="0">
            <a:spAutoFit/>
          </a:bodyPr>
          <a:lstStyle/>
          <a:p>
            <a:pPr algn="l">
              <a:lnSpc>
                <a:spcPts val="4593"/>
              </a:lnSpc>
            </a:pPr>
            <a:r>
              <a:rPr lang="en-US" sz="5888" spc="-259" b="true">
                <a:solidFill>
                  <a:srgbClr val="000000"/>
                </a:solidFill>
                <a:latin typeface="Helvetica World Bold"/>
                <a:ea typeface="Helvetica World Bold"/>
                <a:cs typeface="Helvetica World Bold"/>
                <a:sym typeface="Helvetica World Bold"/>
              </a:rPr>
              <a:t>A</a:t>
            </a:r>
            <a:r>
              <a:rPr lang="en-US" b="true" sz="5888" spc="-259">
                <a:solidFill>
                  <a:srgbClr val="000000"/>
                </a:solidFill>
                <a:latin typeface="Helvetica World Bold"/>
                <a:ea typeface="Helvetica World Bold"/>
                <a:cs typeface="Helvetica World Bold"/>
                <a:sym typeface="Helvetica World Bold"/>
              </a:rPr>
              <a:t>nalisis Kompleksitas Algoritma (Big-O)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51414"/>
        </a:solidFill>
      </p:bgPr>
    </p:bg>
    <p:spTree>
      <p:nvGrpSpPr>
        <p:cNvPr id="1" name=""/>
        <p:cNvGrpSpPr/>
        <p:nvPr/>
      </p:nvGrpSpPr>
      <p:grpSpPr>
        <a:xfrm>
          <a:off x="0" y="0"/>
          <a:ext cx="0" cy="0"/>
          <a:chOff x="0" y="0"/>
          <a:chExt cx="0" cy="0"/>
        </a:xfrm>
      </p:grpSpPr>
      <p:sp>
        <p:nvSpPr>
          <p:cNvPr name="Freeform 2" id="2"/>
          <p:cNvSpPr/>
          <p:nvPr/>
        </p:nvSpPr>
        <p:spPr>
          <a:xfrm flipH="true" flipV="false" rot="-2931861">
            <a:off x="-12291443" y="6645923"/>
            <a:ext cx="20885479" cy="13138865"/>
          </a:xfrm>
          <a:custGeom>
            <a:avLst/>
            <a:gdLst/>
            <a:ahLst/>
            <a:cxnLst/>
            <a:rect r="r" b="b" t="t" l="l"/>
            <a:pathLst>
              <a:path h="13138865" w="20885479">
                <a:moveTo>
                  <a:pt x="20885478" y="0"/>
                </a:moveTo>
                <a:lnTo>
                  <a:pt x="0" y="0"/>
                </a:lnTo>
                <a:lnTo>
                  <a:pt x="0" y="13138864"/>
                </a:lnTo>
                <a:lnTo>
                  <a:pt x="20885478" y="13138864"/>
                </a:lnTo>
                <a:lnTo>
                  <a:pt x="20885478" y="0"/>
                </a:lnTo>
                <a:close/>
              </a:path>
            </a:pathLst>
          </a:custGeom>
          <a:blipFill>
            <a:blip r:embed="rId2"/>
            <a:stretch>
              <a:fillRect l="0" t="0" r="0" b="0"/>
            </a:stretch>
          </a:blipFill>
        </p:spPr>
      </p:sp>
      <p:sp>
        <p:nvSpPr>
          <p:cNvPr name="TextBox 3" id="3"/>
          <p:cNvSpPr txBox="true"/>
          <p:nvPr/>
        </p:nvSpPr>
        <p:spPr>
          <a:xfrm rot="0">
            <a:off x="8982338" y="5668638"/>
            <a:ext cx="6610306" cy="2443385"/>
          </a:xfrm>
          <a:prstGeom prst="rect">
            <a:avLst/>
          </a:prstGeom>
        </p:spPr>
        <p:txBody>
          <a:bodyPr anchor="t" rtlCol="false" tIns="0" lIns="0" bIns="0" rIns="0">
            <a:spAutoFit/>
          </a:bodyPr>
          <a:lstStyle/>
          <a:p>
            <a:pPr algn="l">
              <a:lnSpc>
                <a:spcPts val="8013"/>
              </a:lnSpc>
            </a:pPr>
            <a:r>
              <a:rPr lang="en-US" b="true" sz="10273" spc="-452">
                <a:solidFill>
                  <a:srgbClr val="FEF8EF"/>
                </a:solidFill>
                <a:latin typeface="Helvetica World Bold"/>
                <a:ea typeface="Helvetica World Bold"/>
                <a:cs typeface="Helvetica World Bold"/>
                <a:sym typeface="Helvetica World Bold"/>
              </a:rPr>
              <a:t>Tantangan</a:t>
            </a:r>
            <a:r>
              <a:rPr lang="en-US" b="true" sz="10273" spc="-452">
                <a:solidFill>
                  <a:srgbClr val="FEF8EF"/>
                </a:solidFill>
                <a:latin typeface="Helvetica World Bold"/>
                <a:ea typeface="Helvetica World Bold"/>
                <a:cs typeface="Helvetica World Bold"/>
                <a:sym typeface="Helvetica World Bold"/>
              </a:rPr>
              <a:t> &amp; Solusi</a:t>
            </a:r>
          </a:p>
        </p:txBody>
      </p:sp>
      <p:sp>
        <p:nvSpPr>
          <p:cNvPr name="Freeform 4" id="4"/>
          <p:cNvSpPr/>
          <p:nvPr/>
        </p:nvSpPr>
        <p:spPr>
          <a:xfrm flipH="false" flipV="false" rot="-5400000">
            <a:off x="14876860" y="7214939"/>
            <a:ext cx="715784" cy="715784"/>
          </a:xfrm>
          <a:custGeom>
            <a:avLst/>
            <a:gdLst/>
            <a:ahLst/>
            <a:cxnLst/>
            <a:rect r="r" b="b" t="t" l="l"/>
            <a:pathLst>
              <a:path h="715784" w="715784">
                <a:moveTo>
                  <a:pt x="0" y="0"/>
                </a:moveTo>
                <a:lnTo>
                  <a:pt x="715784" y="0"/>
                </a:lnTo>
                <a:lnTo>
                  <a:pt x="715784" y="715785"/>
                </a:lnTo>
                <a:lnTo>
                  <a:pt x="0" y="7157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8982338" y="2458842"/>
            <a:ext cx="8488197" cy="1979295"/>
          </a:xfrm>
          <a:prstGeom prst="rect">
            <a:avLst/>
          </a:prstGeom>
        </p:spPr>
        <p:txBody>
          <a:bodyPr anchor="t" rtlCol="false" tIns="0" lIns="0" bIns="0" rIns="0">
            <a:spAutoFit/>
          </a:bodyPr>
          <a:lstStyle/>
          <a:p>
            <a:pPr algn="l" marL="388618" indent="-194309" lvl="1">
              <a:lnSpc>
                <a:spcPts val="2699"/>
              </a:lnSpc>
              <a:buFont typeface="Arial"/>
              <a:buChar char="•"/>
            </a:pPr>
            <a:r>
              <a:rPr lang="en-US" sz="1799">
                <a:solidFill>
                  <a:srgbClr val="FEF8EF"/>
                </a:solidFill>
                <a:latin typeface="Helvetica World"/>
                <a:ea typeface="Helvetica World"/>
                <a:cs typeface="Helvetica World"/>
                <a:sym typeface="Helvetica World"/>
              </a:rPr>
              <a:t>M</a:t>
            </a:r>
            <a:r>
              <a:rPr lang="en-US" sz="1799">
                <a:solidFill>
                  <a:srgbClr val="FEF8EF"/>
                </a:solidFill>
                <a:latin typeface="Helvetica World"/>
                <a:ea typeface="Helvetica World"/>
                <a:cs typeface="Helvetica World"/>
                <a:sym typeface="Helvetica World"/>
              </a:rPr>
              <a:t>enggunakan Hash Table untuk mempercepat proses pencarian.</a:t>
            </a:r>
          </a:p>
          <a:p>
            <a:pPr algn="l" marL="388618" indent="-194309" lvl="1">
              <a:lnSpc>
                <a:spcPts val="2699"/>
              </a:lnSpc>
              <a:buFont typeface="Arial"/>
              <a:buChar char="•"/>
            </a:pPr>
            <a:r>
              <a:rPr lang="en-US" sz="1799">
                <a:solidFill>
                  <a:srgbClr val="FEF8EF"/>
                </a:solidFill>
                <a:latin typeface="Helvetica World"/>
                <a:ea typeface="Helvetica World"/>
                <a:cs typeface="Helvetica World"/>
                <a:sym typeface="Helvetica World"/>
              </a:rPr>
              <a:t>Mengimplementasikan Levenshtein Distance untuk koreksi kesalahan ketik.</a:t>
            </a:r>
          </a:p>
          <a:p>
            <a:pPr algn="l" marL="388618" indent="-194309" lvl="1">
              <a:lnSpc>
                <a:spcPts val="2699"/>
              </a:lnSpc>
              <a:buFont typeface="Arial"/>
              <a:buChar char="•"/>
            </a:pPr>
            <a:r>
              <a:rPr lang="en-US" sz="1799">
                <a:solidFill>
                  <a:srgbClr val="FEF8EF"/>
                </a:solidFill>
                <a:latin typeface="Helvetica World"/>
                <a:ea typeface="Helvetica World"/>
                <a:cs typeface="Helvetica World"/>
                <a:sym typeface="Helvetica World"/>
              </a:rPr>
              <a:t>Menggunakan Trie untuk menyediakan fitur pelengkapan otomatis.</a:t>
            </a:r>
          </a:p>
          <a:p>
            <a:pPr algn="l" marL="388618" indent="-194309" lvl="1">
              <a:lnSpc>
                <a:spcPts val="2699"/>
              </a:lnSpc>
              <a:buFont typeface="Arial"/>
              <a:buChar char="•"/>
            </a:pPr>
            <a:r>
              <a:rPr lang="en-US" sz="1799">
                <a:solidFill>
                  <a:srgbClr val="FEF8EF"/>
                </a:solidFill>
                <a:latin typeface="Helvetica World"/>
                <a:ea typeface="Helvetica World"/>
                <a:cs typeface="Helvetica World"/>
                <a:sym typeface="Helvetica World"/>
              </a:rPr>
              <a:t>Menggunakan Doubly Linked List untuk navigasi riwayat (Back &amp; Forward).</a:t>
            </a:r>
          </a:p>
          <a:p>
            <a:pPr algn="l" marL="388618" indent="-194309" lvl="1">
              <a:lnSpc>
                <a:spcPts val="2699"/>
              </a:lnSpc>
              <a:buFont typeface="Arial"/>
              <a:buChar char="•"/>
            </a:pPr>
            <a:r>
              <a:rPr lang="en-US" sz="1799">
                <a:solidFill>
                  <a:srgbClr val="FEF8EF"/>
                </a:solidFill>
                <a:latin typeface="Helvetica World"/>
                <a:ea typeface="Helvetica World"/>
                <a:cs typeface="Helvetica World"/>
                <a:sym typeface="Helvetica World"/>
              </a:rPr>
              <a:t>Menggunakan Set untuk mencegah duplikasi data favorit.</a:t>
            </a:r>
          </a:p>
          <a:p>
            <a:pPr algn="l">
              <a:lnSpc>
                <a:spcPts val="2699"/>
              </a:lnSpc>
            </a:pPr>
          </a:p>
        </p:txBody>
      </p:sp>
      <p:sp>
        <p:nvSpPr>
          <p:cNvPr name="TextBox 6" id="6"/>
          <p:cNvSpPr txBox="true"/>
          <p:nvPr/>
        </p:nvSpPr>
        <p:spPr>
          <a:xfrm rot="0">
            <a:off x="8982338" y="2050638"/>
            <a:ext cx="4531364" cy="310134"/>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FEF8EF"/>
                </a:solidFill>
                <a:latin typeface="Helvetica World Bold"/>
                <a:ea typeface="Helvetica World Bold"/>
                <a:cs typeface="Helvetica World Bold"/>
                <a:sym typeface="Helvetica World Bold"/>
              </a:rPr>
              <a:t>Solusi</a:t>
            </a:r>
          </a:p>
        </p:txBody>
      </p:sp>
      <p:sp>
        <p:nvSpPr>
          <p:cNvPr name="TextBox 7" id="7"/>
          <p:cNvSpPr txBox="true"/>
          <p:nvPr/>
        </p:nvSpPr>
        <p:spPr>
          <a:xfrm rot="0">
            <a:off x="1114425" y="2458842"/>
            <a:ext cx="7318000" cy="1979295"/>
          </a:xfrm>
          <a:prstGeom prst="rect">
            <a:avLst/>
          </a:prstGeom>
        </p:spPr>
        <p:txBody>
          <a:bodyPr anchor="t" rtlCol="false" tIns="0" lIns="0" bIns="0" rIns="0">
            <a:spAutoFit/>
          </a:bodyPr>
          <a:lstStyle/>
          <a:p>
            <a:pPr algn="l" marL="388618" indent="-194309" lvl="1">
              <a:lnSpc>
                <a:spcPts val="2699"/>
              </a:lnSpc>
              <a:buFont typeface="Arial"/>
              <a:buChar char="•"/>
            </a:pPr>
            <a:r>
              <a:rPr lang="en-US" sz="1799">
                <a:solidFill>
                  <a:srgbClr val="FEF8EF"/>
                </a:solidFill>
                <a:latin typeface="Helvetica World"/>
                <a:ea typeface="Helvetica World"/>
                <a:cs typeface="Helvetica World"/>
                <a:sym typeface="Helvetica World"/>
              </a:rPr>
              <a:t>P</a:t>
            </a:r>
            <a:r>
              <a:rPr lang="en-US" sz="1799">
                <a:solidFill>
                  <a:srgbClr val="FEF8EF"/>
                </a:solidFill>
                <a:latin typeface="Helvetica World"/>
                <a:ea typeface="Helvetica World"/>
                <a:cs typeface="Helvetica World"/>
                <a:sym typeface="Helvetica World"/>
              </a:rPr>
              <a:t>encarian kata menjadi lambat jika jumlah data bertambah.</a:t>
            </a:r>
          </a:p>
          <a:p>
            <a:pPr algn="l" marL="388618" indent="-194309" lvl="1">
              <a:lnSpc>
                <a:spcPts val="2699"/>
              </a:lnSpc>
              <a:buFont typeface="Arial"/>
              <a:buChar char="•"/>
            </a:pPr>
            <a:r>
              <a:rPr lang="en-US" sz="1799">
                <a:solidFill>
                  <a:srgbClr val="FEF8EF"/>
                </a:solidFill>
                <a:latin typeface="Helvetica World"/>
                <a:ea typeface="Helvetica World"/>
                <a:cs typeface="Helvetica World"/>
                <a:sym typeface="Helvetica World"/>
              </a:rPr>
              <a:t>Pengguna sering melakukan kesalahan pengetikan (typo).</a:t>
            </a:r>
          </a:p>
          <a:p>
            <a:pPr algn="l" marL="388618" indent="-194309" lvl="1">
              <a:lnSpc>
                <a:spcPts val="2699"/>
              </a:lnSpc>
              <a:buFont typeface="Arial"/>
              <a:buChar char="•"/>
            </a:pPr>
            <a:r>
              <a:rPr lang="en-US" sz="1799">
                <a:solidFill>
                  <a:srgbClr val="FEF8EF"/>
                </a:solidFill>
                <a:latin typeface="Helvetica World"/>
                <a:ea typeface="Helvetica World"/>
                <a:cs typeface="Helvetica World"/>
                <a:sym typeface="Helvetica World"/>
              </a:rPr>
              <a:t>Diperlukan fitur pelengkapan otomatis saat pengguna mengetik.</a:t>
            </a:r>
          </a:p>
          <a:p>
            <a:pPr algn="l" marL="388618" indent="-194309" lvl="1">
              <a:lnSpc>
                <a:spcPts val="2699"/>
              </a:lnSpc>
              <a:buFont typeface="Arial"/>
              <a:buChar char="•"/>
            </a:pPr>
            <a:r>
              <a:rPr lang="en-US" sz="1799">
                <a:solidFill>
                  <a:srgbClr val="FEF8EF"/>
                </a:solidFill>
                <a:latin typeface="Helvetica World"/>
                <a:ea typeface="Helvetica World"/>
                <a:cs typeface="Helvetica World"/>
                <a:sym typeface="Helvetica World"/>
              </a:rPr>
              <a:t>Pengelolaan riwayat pencarian harus dapat diakses kembali.</a:t>
            </a:r>
          </a:p>
          <a:p>
            <a:pPr algn="l" marL="388618" indent="-194309" lvl="1">
              <a:lnSpc>
                <a:spcPts val="2699"/>
              </a:lnSpc>
              <a:buFont typeface="Arial"/>
              <a:buChar char="•"/>
            </a:pPr>
            <a:r>
              <a:rPr lang="en-US" sz="1799">
                <a:solidFill>
                  <a:srgbClr val="FEF8EF"/>
                </a:solidFill>
                <a:latin typeface="Helvetica World"/>
                <a:ea typeface="Helvetica World"/>
                <a:cs typeface="Helvetica World"/>
                <a:sym typeface="Helvetica World"/>
              </a:rPr>
              <a:t>Data favorit tidak boleh disimpan secara duplikat.</a:t>
            </a:r>
          </a:p>
          <a:p>
            <a:pPr algn="l">
              <a:lnSpc>
                <a:spcPts val="2699"/>
              </a:lnSpc>
            </a:pPr>
          </a:p>
        </p:txBody>
      </p:sp>
      <p:sp>
        <p:nvSpPr>
          <p:cNvPr name="TextBox 8" id="8"/>
          <p:cNvSpPr txBox="true"/>
          <p:nvPr/>
        </p:nvSpPr>
        <p:spPr>
          <a:xfrm rot="0">
            <a:off x="1114425" y="2050638"/>
            <a:ext cx="4077754" cy="307678"/>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FEF8EF"/>
                </a:solidFill>
                <a:latin typeface="Helvetica World Bold"/>
                <a:ea typeface="Helvetica World Bold"/>
                <a:cs typeface="Helvetica World Bold"/>
                <a:sym typeface="Helvetica World Bold"/>
              </a:rPr>
              <a:t>Tantangan</a:t>
            </a:r>
          </a:p>
        </p:txBody>
      </p:sp>
      <p:sp>
        <p:nvSpPr>
          <p:cNvPr name="TextBox 9" id="9"/>
          <p:cNvSpPr txBox="true"/>
          <p:nvPr/>
        </p:nvSpPr>
        <p:spPr>
          <a:xfrm rot="0">
            <a:off x="1156141" y="6181168"/>
            <a:ext cx="4036038" cy="2026846"/>
          </a:xfrm>
          <a:prstGeom prst="rect">
            <a:avLst/>
          </a:prstGeom>
        </p:spPr>
        <p:txBody>
          <a:bodyPr anchor="t" rtlCol="false" tIns="0" lIns="0" bIns="0" rIns="0">
            <a:spAutoFit/>
          </a:bodyPr>
          <a:lstStyle/>
          <a:p>
            <a:pPr algn="l">
              <a:lnSpc>
                <a:spcPts val="14040"/>
              </a:lnSpc>
            </a:pPr>
            <a:r>
              <a:rPr lang="en-US" sz="18000" spc="-792">
                <a:solidFill>
                  <a:srgbClr val="FEF8EF"/>
                </a:solidFill>
                <a:latin typeface="Helvetica World"/>
                <a:ea typeface="Helvetica World"/>
                <a:cs typeface="Helvetica World"/>
                <a:sym typeface="Helvetica World"/>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Freeform 2" id="2"/>
          <p:cNvSpPr/>
          <p:nvPr/>
        </p:nvSpPr>
        <p:spPr>
          <a:xfrm flipH="false" flipV="false" rot="8295308">
            <a:off x="10866792" y="-3718001"/>
            <a:ext cx="20885479" cy="13138865"/>
          </a:xfrm>
          <a:custGeom>
            <a:avLst/>
            <a:gdLst/>
            <a:ahLst/>
            <a:cxnLst/>
            <a:rect r="r" b="b" t="t" l="l"/>
            <a:pathLst>
              <a:path h="13138865" w="20885479">
                <a:moveTo>
                  <a:pt x="0" y="0"/>
                </a:moveTo>
                <a:lnTo>
                  <a:pt x="20885478" y="0"/>
                </a:lnTo>
                <a:lnTo>
                  <a:pt x="20885478" y="13138865"/>
                </a:lnTo>
                <a:lnTo>
                  <a:pt x="0" y="13138865"/>
                </a:lnTo>
                <a:lnTo>
                  <a:pt x="0" y="0"/>
                </a:lnTo>
                <a:close/>
              </a:path>
            </a:pathLst>
          </a:custGeom>
          <a:blipFill>
            <a:blip r:embed="rId2"/>
            <a:stretch>
              <a:fillRect l="0" t="0" r="0" b="0"/>
            </a:stretch>
          </a:blipFill>
        </p:spPr>
      </p:sp>
      <p:sp>
        <p:nvSpPr>
          <p:cNvPr name="TextBox 3" id="3"/>
          <p:cNvSpPr txBox="true"/>
          <p:nvPr/>
        </p:nvSpPr>
        <p:spPr>
          <a:xfrm rot="0">
            <a:off x="672876" y="3104057"/>
            <a:ext cx="13883966" cy="1508080"/>
          </a:xfrm>
          <a:prstGeom prst="rect">
            <a:avLst/>
          </a:prstGeom>
        </p:spPr>
        <p:txBody>
          <a:bodyPr anchor="t" rtlCol="false" tIns="0" lIns="0" bIns="0" rIns="0">
            <a:spAutoFit/>
          </a:bodyPr>
          <a:lstStyle/>
          <a:p>
            <a:pPr algn="l">
              <a:lnSpc>
                <a:spcPts val="9272"/>
              </a:lnSpc>
            </a:pPr>
            <a:r>
              <a:rPr lang="en-US" b="true" sz="11887" spc="-523">
                <a:solidFill>
                  <a:srgbClr val="000000"/>
                </a:solidFill>
                <a:latin typeface="Helvetica World Bold"/>
                <a:ea typeface="Helvetica World Bold"/>
                <a:cs typeface="Helvetica World Bold"/>
                <a:sym typeface="Helvetica World Bold"/>
              </a:rPr>
              <a:t>Pembahasan</a:t>
            </a:r>
          </a:p>
        </p:txBody>
      </p:sp>
      <p:sp>
        <p:nvSpPr>
          <p:cNvPr name="TextBox 4" id="4"/>
          <p:cNvSpPr txBox="true"/>
          <p:nvPr/>
        </p:nvSpPr>
        <p:spPr>
          <a:xfrm rot="0">
            <a:off x="15418658" y="9344025"/>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14</a:t>
            </a:r>
            <a:r>
              <a:rPr lang="en-US" b="true" sz="2400" spc="-105">
                <a:solidFill>
                  <a:srgbClr val="000000"/>
                </a:solidFill>
                <a:latin typeface="Helvetica World Bold"/>
                <a:ea typeface="Helvetica World Bold"/>
                <a:cs typeface="Helvetica World Bold"/>
                <a:sym typeface="Helvetica World Bold"/>
              </a:rPr>
              <a:t>/18</a:t>
            </a:r>
          </a:p>
        </p:txBody>
      </p:sp>
      <p:sp>
        <p:nvSpPr>
          <p:cNvPr name="TextBox 5" id="5"/>
          <p:cNvSpPr txBox="true"/>
          <p:nvPr/>
        </p:nvSpPr>
        <p:spPr>
          <a:xfrm rot="0">
            <a:off x="672876" y="9344025"/>
            <a:ext cx="4142994" cy="307678"/>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K</a:t>
            </a:r>
            <a:r>
              <a:rPr lang="en-US" b="true" sz="2400" spc="-105">
                <a:solidFill>
                  <a:srgbClr val="000000"/>
                </a:solidFill>
                <a:latin typeface="Helvetica World Bold"/>
                <a:ea typeface="Helvetica World Bold"/>
                <a:cs typeface="Helvetica World Bold"/>
                <a:sym typeface="Helvetica World Bold"/>
              </a:rPr>
              <a:t>elompok 11</a:t>
            </a:r>
          </a:p>
        </p:txBody>
      </p:sp>
      <p:sp>
        <p:nvSpPr>
          <p:cNvPr name="TextBox 6" id="6"/>
          <p:cNvSpPr txBox="true"/>
          <p:nvPr/>
        </p:nvSpPr>
        <p:spPr>
          <a:xfrm rot="0">
            <a:off x="763486" y="4877434"/>
            <a:ext cx="10166442" cy="1645920"/>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P</a:t>
            </a:r>
            <a:r>
              <a:rPr lang="en-US" sz="1799">
                <a:solidFill>
                  <a:srgbClr val="000000"/>
                </a:solidFill>
                <a:latin typeface="Helvetica World"/>
                <a:ea typeface="Helvetica World"/>
                <a:cs typeface="Helvetica World"/>
                <a:sym typeface="Helvetica World"/>
              </a:rPr>
              <a:t>enerapan struktur data yang tepat meningkatkan efisiensi aplikasi. Hash Table mempercepat pencarian kata, Trie mendukung autocomplete, Doubly Linked List memudahkan navigasi riwayat, Set mencegah duplikasi data favorit, sedangkan Levenshtein Distance memberikan rekomendasi kata saat terjadi kesalahan pengetikan. Hasil analisis menunjukkan bahwa pendekatan ini lebih efisien dibandingkan pencarian linier.</a:t>
            </a:r>
          </a:p>
        </p:txBody>
      </p:sp>
      <p:sp>
        <p:nvSpPr>
          <p:cNvPr name="Freeform 7" id="7"/>
          <p:cNvSpPr/>
          <p:nvPr/>
        </p:nvSpPr>
        <p:spPr>
          <a:xfrm flipH="false" flipV="false" rot="0">
            <a:off x="16899339" y="670808"/>
            <a:ext cx="715784" cy="715784"/>
          </a:xfrm>
          <a:custGeom>
            <a:avLst/>
            <a:gdLst/>
            <a:ahLst/>
            <a:cxnLst/>
            <a:rect r="r" b="b" t="t" l="l"/>
            <a:pathLst>
              <a:path h="715784" w="715784">
                <a:moveTo>
                  <a:pt x="0" y="0"/>
                </a:moveTo>
                <a:lnTo>
                  <a:pt x="715785" y="0"/>
                </a:lnTo>
                <a:lnTo>
                  <a:pt x="715785" y="715784"/>
                </a:lnTo>
                <a:lnTo>
                  <a:pt x="0" y="715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Freeform 2" id="2"/>
          <p:cNvSpPr/>
          <p:nvPr/>
        </p:nvSpPr>
        <p:spPr>
          <a:xfrm flipH="false" flipV="false" rot="7255471">
            <a:off x="8677126" y="1479984"/>
            <a:ext cx="20885479" cy="13138865"/>
          </a:xfrm>
          <a:custGeom>
            <a:avLst/>
            <a:gdLst/>
            <a:ahLst/>
            <a:cxnLst/>
            <a:rect r="r" b="b" t="t" l="l"/>
            <a:pathLst>
              <a:path h="13138865" w="20885479">
                <a:moveTo>
                  <a:pt x="0" y="0"/>
                </a:moveTo>
                <a:lnTo>
                  <a:pt x="20885479" y="0"/>
                </a:lnTo>
                <a:lnTo>
                  <a:pt x="20885479" y="13138864"/>
                </a:lnTo>
                <a:lnTo>
                  <a:pt x="0" y="13138864"/>
                </a:lnTo>
                <a:lnTo>
                  <a:pt x="0" y="0"/>
                </a:lnTo>
                <a:close/>
              </a:path>
            </a:pathLst>
          </a:custGeom>
          <a:blipFill>
            <a:blip r:embed="rId2"/>
            <a:stretch>
              <a:fillRect l="0" t="0" r="0" b="0"/>
            </a:stretch>
          </a:blipFill>
        </p:spPr>
      </p:sp>
      <p:sp>
        <p:nvSpPr>
          <p:cNvPr name="TextBox 3" id="3"/>
          <p:cNvSpPr txBox="true"/>
          <p:nvPr/>
        </p:nvSpPr>
        <p:spPr>
          <a:xfrm rot="0">
            <a:off x="672876" y="2388410"/>
            <a:ext cx="9126287" cy="2858324"/>
          </a:xfrm>
          <a:prstGeom prst="rect">
            <a:avLst/>
          </a:prstGeom>
        </p:spPr>
        <p:txBody>
          <a:bodyPr anchor="t" rtlCol="false" tIns="0" lIns="0" bIns="0" rIns="0">
            <a:spAutoFit/>
          </a:bodyPr>
          <a:lstStyle/>
          <a:p>
            <a:pPr algn="l">
              <a:lnSpc>
                <a:spcPts val="9272"/>
              </a:lnSpc>
            </a:pPr>
            <a:r>
              <a:rPr lang="en-US" b="true" sz="11887" spc="-523">
                <a:solidFill>
                  <a:srgbClr val="000000"/>
                </a:solidFill>
                <a:latin typeface="Helvetica World Bold"/>
                <a:ea typeface="Helvetica World Bold"/>
                <a:cs typeface="Helvetica World Bold"/>
                <a:sym typeface="Helvetica World Bold"/>
              </a:rPr>
              <a:t>Hasil Pembahasan</a:t>
            </a:r>
          </a:p>
        </p:txBody>
      </p:sp>
      <p:sp>
        <p:nvSpPr>
          <p:cNvPr name="TextBox 4" id="4"/>
          <p:cNvSpPr txBox="true"/>
          <p:nvPr/>
        </p:nvSpPr>
        <p:spPr>
          <a:xfrm rot="0">
            <a:off x="15418658" y="9344025"/>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15</a:t>
            </a:r>
            <a:r>
              <a:rPr lang="en-US" b="true" sz="2400" spc="-105">
                <a:solidFill>
                  <a:srgbClr val="000000"/>
                </a:solidFill>
                <a:latin typeface="Helvetica World Bold"/>
                <a:ea typeface="Helvetica World Bold"/>
                <a:cs typeface="Helvetica World Bold"/>
                <a:sym typeface="Helvetica World Bold"/>
              </a:rPr>
              <a:t>/18</a:t>
            </a:r>
          </a:p>
        </p:txBody>
      </p:sp>
      <p:sp>
        <p:nvSpPr>
          <p:cNvPr name="TextBox 5" id="5"/>
          <p:cNvSpPr txBox="true"/>
          <p:nvPr/>
        </p:nvSpPr>
        <p:spPr>
          <a:xfrm rot="0">
            <a:off x="672876" y="9344025"/>
            <a:ext cx="4142994" cy="307678"/>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K</a:t>
            </a:r>
            <a:r>
              <a:rPr lang="en-US" b="true" sz="2400" spc="-105">
                <a:solidFill>
                  <a:srgbClr val="000000"/>
                </a:solidFill>
                <a:latin typeface="Helvetica World Bold"/>
                <a:ea typeface="Helvetica World Bold"/>
                <a:cs typeface="Helvetica World Bold"/>
                <a:sym typeface="Helvetica World Bold"/>
              </a:rPr>
              <a:t>elompok 11</a:t>
            </a:r>
          </a:p>
        </p:txBody>
      </p:sp>
      <p:sp>
        <p:nvSpPr>
          <p:cNvPr name="TextBox 6" id="6"/>
          <p:cNvSpPr txBox="true"/>
          <p:nvPr/>
        </p:nvSpPr>
        <p:spPr>
          <a:xfrm rot="0">
            <a:off x="763486" y="5587684"/>
            <a:ext cx="8176301" cy="1645920"/>
          </a:xfrm>
          <a:prstGeom prst="rect">
            <a:avLst/>
          </a:prstGeom>
        </p:spPr>
        <p:txBody>
          <a:bodyPr anchor="t" rtlCol="false" tIns="0" lIns="0" bIns="0" rIns="0">
            <a:spAutoFit/>
          </a:bodyPr>
          <a:lstStyle/>
          <a:p>
            <a:pPr algn="l">
              <a:lnSpc>
                <a:spcPts val="2699"/>
              </a:lnSpc>
            </a:pPr>
            <a:r>
              <a:rPr lang="en-US" sz="1799">
                <a:solidFill>
                  <a:srgbClr val="000000"/>
                </a:solidFill>
                <a:latin typeface="Helvetica World"/>
                <a:ea typeface="Helvetica World"/>
                <a:cs typeface="Helvetica World"/>
                <a:sym typeface="Helvetica World"/>
              </a:rPr>
              <a:t>A</a:t>
            </a:r>
            <a:r>
              <a:rPr lang="en-US" sz="1799">
                <a:solidFill>
                  <a:srgbClr val="000000"/>
                </a:solidFill>
                <a:latin typeface="Helvetica World"/>
                <a:ea typeface="Helvetica World"/>
                <a:cs typeface="Helvetica World"/>
                <a:sym typeface="Helvetica World"/>
              </a:rPr>
              <a:t>plikasi Kamus Multi Guna berhasil dikembangkan menggunakan Python dengan menerapkan Hash Table , Trie , Doubly Linked List , Set , dan algoritma Levenshtein Distance . Seluruh fitur utama, seperti pencarian kata, autocomplete, koreksi typo, riwayat pencarian, daftar favorit, dan mode kuis, berhasil diimplementasikan dan seluruh pengujian fungsional memperoleh status valid .</a:t>
            </a:r>
          </a:p>
        </p:txBody>
      </p:sp>
      <p:sp>
        <p:nvSpPr>
          <p:cNvPr name="Freeform 7" id="7"/>
          <p:cNvSpPr/>
          <p:nvPr/>
        </p:nvSpPr>
        <p:spPr>
          <a:xfrm flipH="false" flipV="false" rot="0">
            <a:off x="4674153" y="2619431"/>
            <a:ext cx="715784" cy="715784"/>
          </a:xfrm>
          <a:custGeom>
            <a:avLst/>
            <a:gdLst/>
            <a:ahLst/>
            <a:cxnLst/>
            <a:rect r="r" b="b" t="t" l="l"/>
            <a:pathLst>
              <a:path h="715784" w="715784">
                <a:moveTo>
                  <a:pt x="0" y="0"/>
                </a:moveTo>
                <a:lnTo>
                  <a:pt x="715784" y="0"/>
                </a:lnTo>
                <a:lnTo>
                  <a:pt x="715784" y="715784"/>
                </a:lnTo>
                <a:lnTo>
                  <a:pt x="0" y="715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4419037" y="816213"/>
            <a:ext cx="3416127" cy="567848"/>
          </a:xfrm>
          <a:prstGeom prst="rect">
            <a:avLst/>
          </a:prstGeom>
        </p:spPr>
        <p:txBody>
          <a:bodyPr anchor="t" rtlCol="false" tIns="0" lIns="0" bIns="0" rIns="0">
            <a:spAutoFit/>
          </a:bodyPr>
          <a:lstStyle/>
          <a:p>
            <a:pPr algn="l">
              <a:lnSpc>
                <a:spcPts val="3746"/>
              </a:lnSpc>
            </a:pPr>
            <a:r>
              <a:rPr lang="en-US" sz="4306" spc="-189" b="true">
                <a:solidFill>
                  <a:srgbClr val="000000"/>
                </a:solidFill>
                <a:latin typeface="Helvetica World Bold"/>
                <a:ea typeface="Helvetica World Bold"/>
                <a:cs typeface="Helvetica World Bold"/>
                <a:sym typeface="Helvetica World Bold"/>
              </a:rPr>
              <a:t>Struktur Data</a:t>
            </a:r>
          </a:p>
        </p:txBody>
      </p:sp>
      <p:sp>
        <p:nvSpPr>
          <p:cNvPr name="Freeform 9" id="9"/>
          <p:cNvSpPr/>
          <p:nvPr/>
        </p:nvSpPr>
        <p:spPr>
          <a:xfrm flipH="false" flipV="false" rot="0">
            <a:off x="13847457" y="859338"/>
            <a:ext cx="381235" cy="394134"/>
          </a:xfrm>
          <a:custGeom>
            <a:avLst/>
            <a:gdLst/>
            <a:ahLst/>
            <a:cxnLst/>
            <a:rect r="r" b="b" t="t" l="l"/>
            <a:pathLst>
              <a:path h="394134" w="381235">
                <a:moveTo>
                  <a:pt x="0" y="0"/>
                </a:moveTo>
                <a:lnTo>
                  <a:pt x="381236" y="0"/>
                </a:lnTo>
                <a:lnTo>
                  <a:pt x="381236" y="394134"/>
                </a:lnTo>
                <a:lnTo>
                  <a:pt x="0" y="3941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TextBox 2" id="2"/>
          <p:cNvSpPr txBox="true"/>
          <p:nvPr/>
        </p:nvSpPr>
        <p:spPr>
          <a:xfrm rot="0">
            <a:off x="15418658" y="9344025"/>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16/18</a:t>
            </a:r>
          </a:p>
        </p:txBody>
      </p:sp>
      <p:sp>
        <p:nvSpPr>
          <p:cNvPr name="TextBox 3" id="3"/>
          <p:cNvSpPr txBox="true"/>
          <p:nvPr/>
        </p:nvSpPr>
        <p:spPr>
          <a:xfrm rot="0">
            <a:off x="672876" y="9344025"/>
            <a:ext cx="4231734" cy="307678"/>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Kelompok 11</a:t>
            </a:r>
          </a:p>
        </p:txBody>
      </p:sp>
      <p:sp>
        <p:nvSpPr>
          <p:cNvPr name="Freeform 4" id="4"/>
          <p:cNvSpPr/>
          <p:nvPr/>
        </p:nvSpPr>
        <p:spPr>
          <a:xfrm flipH="false" flipV="false" rot="-5400000">
            <a:off x="16899339" y="6269184"/>
            <a:ext cx="715784" cy="715784"/>
          </a:xfrm>
          <a:custGeom>
            <a:avLst/>
            <a:gdLst/>
            <a:ahLst/>
            <a:cxnLst/>
            <a:rect r="r" b="b" t="t" l="l"/>
            <a:pathLst>
              <a:path h="715784" w="715784">
                <a:moveTo>
                  <a:pt x="0" y="0"/>
                </a:moveTo>
                <a:lnTo>
                  <a:pt x="715785" y="0"/>
                </a:lnTo>
                <a:lnTo>
                  <a:pt x="715785" y="715784"/>
                </a:lnTo>
                <a:lnTo>
                  <a:pt x="0" y="715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3163720">
            <a:off x="-13141182" y="-5369705"/>
            <a:ext cx="20885479" cy="13138865"/>
          </a:xfrm>
          <a:custGeom>
            <a:avLst/>
            <a:gdLst/>
            <a:ahLst/>
            <a:cxnLst/>
            <a:rect r="r" b="b" t="t" l="l"/>
            <a:pathLst>
              <a:path h="13138865" w="20885479">
                <a:moveTo>
                  <a:pt x="20885478" y="0"/>
                </a:moveTo>
                <a:lnTo>
                  <a:pt x="0" y="0"/>
                </a:lnTo>
                <a:lnTo>
                  <a:pt x="0" y="13138865"/>
                </a:lnTo>
                <a:lnTo>
                  <a:pt x="20885478" y="13138865"/>
                </a:lnTo>
                <a:lnTo>
                  <a:pt x="20885478" y="0"/>
                </a:lnTo>
                <a:close/>
              </a:path>
            </a:pathLst>
          </a:custGeom>
          <a:blipFill>
            <a:blip r:embed="rId4"/>
            <a:stretch>
              <a:fillRect l="0" t="0" r="0" b="0"/>
            </a:stretch>
          </a:blipFill>
        </p:spPr>
      </p:sp>
      <p:sp>
        <p:nvSpPr>
          <p:cNvPr name="TextBox 6" id="6"/>
          <p:cNvSpPr txBox="true"/>
          <p:nvPr/>
        </p:nvSpPr>
        <p:spPr>
          <a:xfrm rot="0">
            <a:off x="712050" y="1846095"/>
            <a:ext cx="8526589" cy="2669858"/>
          </a:xfrm>
          <a:prstGeom prst="rect">
            <a:avLst/>
          </a:prstGeom>
        </p:spPr>
        <p:txBody>
          <a:bodyPr anchor="t" rtlCol="false" tIns="0" lIns="0" bIns="0" rIns="0">
            <a:spAutoFit/>
          </a:bodyPr>
          <a:lstStyle/>
          <a:p>
            <a:pPr algn="l">
              <a:lnSpc>
                <a:spcPts val="2699"/>
              </a:lnSpc>
            </a:pP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B</a:t>
            </a:r>
            <a:r>
              <a:rPr lang="en-US" sz="1799">
                <a:solidFill>
                  <a:srgbClr val="000000"/>
                </a:solidFill>
                <a:latin typeface="Helvetica World"/>
                <a:ea typeface="Helvetica World"/>
                <a:cs typeface="Helvetica World"/>
                <a:sym typeface="Helvetica World"/>
              </a:rPr>
              <a:t>erhasil aplikasi Kamus Mu</a:t>
            </a:r>
            <a:r>
              <a:rPr lang="en-US" sz="1799">
                <a:solidFill>
                  <a:srgbClr val="000000"/>
                </a:solidFill>
                <a:latin typeface="Helvetica World"/>
                <a:ea typeface="Helvetica World"/>
                <a:cs typeface="Helvetica World"/>
                <a:sym typeface="Helvetica World"/>
              </a:rPr>
              <a:t>lti Guna berbasis pengembangan Python.</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M</a:t>
            </a:r>
            <a:r>
              <a:rPr lang="en-US" sz="1799">
                <a:solidFill>
                  <a:srgbClr val="000000"/>
                </a:solidFill>
                <a:latin typeface="Helvetica World"/>
                <a:ea typeface="Helvetica World"/>
                <a:cs typeface="Helvetica World"/>
                <a:sym typeface="Helvetica World"/>
              </a:rPr>
              <a:t>engimplementasikan Hash Table, Trie, Double Linked List, Set , dan Levenshtein Distance sesuai fungsinya.</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Seluruh fitur utama berjalan dengan baik, meliputi pencarian, pelengkapan otomatis, riwayat, favorit, dan mode kuis.</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P</a:t>
            </a:r>
            <a:r>
              <a:rPr lang="en-US" sz="1799">
                <a:solidFill>
                  <a:srgbClr val="000000"/>
                </a:solidFill>
                <a:latin typeface="Helvetica World"/>
                <a:ea typeface="Helvetica World"/>
                <a:cs typeface="Helvetica World"/>
                <a:sym typeface="Helvetica World"/>
              </a:rPr>
              <a:t>enggunaan struktur data yang tepat m</a:t>
            </a:r>
            <a:r>
              <a:rPr lang="en-US" sz="1799">
                <a:solidFill>
                  <a:srgbClr val="000000"/>
                </a:solidFill>
                <a:latin typeface="Helvetica World"/>
                <a:ea typeface="Helvetica World"/>
                <a:cs typeface="Helvetica World"/>
                <a:sym typeface="Helvetica World"/>
              </a:rPr>
              <a:t>eningk</a:t>
            </a:r>
            <a:r>
              <a:rPr lang="en-US" sz="1799">
                <a:solidFill>
                  <a:srgbClr val="000000"/>
                </a:solidFill>
                <a:latin typeface="Helvetica World"/>
                <a:ea typeface="Helvetica World"/>
                <a:cs typeface="Helvetica World"/>
                <a:sym typeface="Helvetica World"/>
              </a:rPr>
              <a:t>atkan efisiensi dan kinerja aplikasi.</a:t>
            </a:r>
          </a:p>
          <a:p>
            <a:pPr algn="l">
              <a:lnSpc>
                <a:spcPts val="2699"/>
              </a:lnSpc>
            </a:pPr>
          </a:p>
        </p:txBody>
      </p:sp>
      <p:sp>
        <p:nvSpPr>
          <p:cNvPr name="TextBox 7" id="7"/>
          <p:cNvSpPr txBox="true"/>
          <p:nvPr/>
        </p:nvSpPr>
        <p:spPr>
          <a:xfrm rot="0">
            <a:off x="10387308" y="1869907"/>
            <a:ext cx="7062283" cy="2646045"/>
          </a:xfrm>
          <a:prstGeom prst="rect">
            <a:avLst/>
          </a:prstGeom>
        </p:spPr>
        <p:txBody>
          <a:bodyPr anchor="t" rtlCol="false" tIns="0" lIns="0" bIns="0" rIns="0">
            <a:spAutoFit/>
          </a:bodyPr>
          <a:lstStyle/>
          <a:p>
            <a:pPr algn="l">
              <a:lnSpc>
                <a:spcPts val="2699"/>
              </a:lnSpc>
            </a:pP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M</a:t>
            </a:r>
            <a:r>
              <a:rPr lang="en-US" sz="1799">
                <a:solidFill>
                  <a:srgbClr val="000000"/>
                </a:solidFill>
                <a:latin typeface="Helvetica World"/>
                <a:ea typeface="Helvetica World"/>
                <a:cs typeface="Helvetica World"/>
                <a:sym typeface="Helvetica World"/>
              </a:rPr>
              <a:t>enambah jumlah dataset kamus ag</a:t>
            </a:r>
            <a:r>
              <a:rPr lang="en-US" sz="1799">
                <a:solidFill>
                  <a:srgbClr val="000000"/>
                </a:solidFill>
                <a:latin typeface="Helvetica World"/>
                <a:ea typeface="Helvetica World"/>
                <a:cs typeface="Helvetica World"/>
                <a:sym typeface="Helvetica World"/>
              </a:rPr>
              <a:t>ar lebih lengkap.</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M</a:t>
            </a:r>
            <a:r>
              <a:rPr lang="en-US" sz="1799">
                <a:solidFill>
                  <a:srgbClr val="000000"/>
                </a:solidFill>
                <a:latin typeface="Helvetica World"/>
                <a:ea typeface="Helvetica World"/>
                <a:cs typeface="Helvetica World"/>
                <a:sym typeface="Helvetica World"/>
              </a:rPr>
              <a:t>enambahkan dukungan bahasa daerah maupun bahasa asing lainnya.</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B</a:t>
            </a:r>
            <a:r>
              <a:rPr lang="en-US" sz="1799">
                <a:solidFill>
                  <a:srgbClr val="000000"/>
                </a:solidFill>
                <a:latin typeface="Helvetica World"/>
                <a:ea typeface="Helvetica World"/>
                <a:cs typeface="Helvetica World"/>
                <a:sym typeface="Helvetica World"/>
              </a:rPr>
              <a:t>erkomunikasi antar muka (GUI) agar lebih modern dan responsif.</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menyimpan data menggunakan database (SQLite/MySQL).</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M</a:t>
            </a:r>
            <a:r>
              <a:rPr lang="en-US" sz="1799">
                <a:solidFill>
                  <a:srgbClr val="000000"/>
                </a:solidFill>
                <a:latin typeface="Helvetica World"/>
                <a:ea typeface="Helvetica World"/>
                <a:cs typeface="Helvetica World"/>
                <a:sym typeface="Helvetica World"/>
              </a:rPr>
              <a:t>enjel</a:t>
            </a:r>
            <a:r>
              <a:rPr lang="en-US" sz="1799">
                <a:solidFill>
                  <a:srgbClr val="000000"/>
                </a:solidFill>
                <a:latin typeface="Helvetica World"/>
                <a:ea typeface="Helvetica World"/>
                <a:cs typeface="Helvetica World"/>
                <a:sym typeface="Helvetica World"/>
              </a:rPr>
              <a:t>askan aplikasi ke platform Android atau berbasis web.</a:t>
            </a:r>
          </a:p>
          <a:p>
            <a:pPr algn="l">
              <a:lnSpc>
                <a:spcPts val="2699"/>
              </a:lnSpc>
            </a:pPr>
          </a:p>
        </p:txBody>
      </p:sp>
      <p:sp>
        <p:nvSpPr>
          <p:cNvPr name="TextBox 8" id="8"/>
          <p:cNvSpPr txBox="true"/>
          <p:nvPr/>
        </p:nvSpPr>
        <p:spPr>
          <a:xfrm rot="0">
            <a:off x="672876" y="5580470"/>
            <a:ext cx="9558661" cy="1955520"/>
          </a:xfrm>
          <a:prstGeom prst="rect">
            <a:avLst/>
          </a:prstGeom>
        </p:spPr>
        <p:txBody>
          <a:bodyPr anchor="t" rtlCol="false" tIns="0" lIns="0" bIns="0" rIns="0">
            <a:spAutoFit/>
          </a:bodyPr>
          <a:lstStyle/>
          <a:p>
            <a:pPr algn="l">
              <a:lnSpc>
                <a:spcPts val="6309"/>
              </a:lnSpc>
            </a:pPr>
            <a:r>
              <a:rPr lang="en-US" b="true" sz="8088" spc="-355">
                <a:solidFill>
                  <a:srgbClr val="000000"/>
                </a:solidFill>
                <a:latin typeface="Helvetica World Bold"/>
                <a:ea typeface="Helvetica World Bold"/>
                <a:cs typeface="Helvetica World Bold"/>
                <a:sym typeface="Helvetica World Bold"/>
              </a:rPr>
              <a:t>K</a:t>
            </a:r>
            <a:r>
              <a:rPr lang="en-US" b="true" sz="8088" spc="-355">
                <a:solidFill>
                  <a:srgbClr val="000000"/>
                </a:solidFill>
                <a:latin typeface="Helvetica World Bold"/>
                <a:ea typeface="Helvetica World Bold"/>
                <a:cs typeface="Helvetica World Bold"/>
                <a:sym typeface="Helvetica World Bold"/>
              </a:rPr>
              <a:t>esimpulan &amp; Saran Pengembangan</a:t>
            </a:r>
          </a:p>
        </p:txBody>
      </p:sp>
      <p:sp>
        <p:nvSpPr>
          <p:cNvPr name="TextBox 9" id="9"/>
          <p:cNvSpPr txBox="true"/>
          <p:nvPr/>
        </p:nvSpPr>
        <p:spPr>
          <a:xfrm rot="0">
            <a:off x="820467" y="1658672"/>
            <a:ext cx="1593949" cy="431996"/>
          </a:xfrm>
          <a:prstGeom prst="rect">
            <a:avLst/>
          </a:prstGeom>
        </p:spPr>
        <p:txBody>
          <a:bodyPr anchor="t" rtlCol="false" tIns="0" lIns="0" bIns="0" rIns="0">
            <a:spAutoFit/>
          </a:bodyPr>
          <a:lstStyle/>
          <a:p>
            <a:pPr algn="l">
              <a:lnSpc>
                <a:spcPts val="3359"/>
              </a:lnSpc>
              <a:spcBef>
                <a:spcPct val="0"/>
              </a:spcBef>
            </a:pPr>
            <a:r>
              <a:rPr lang="en-US" b="true" sz="2400" spc="-105">
                <a:solidFill>
                  <a:srgbClr val="000000"/>
                </a:solidFill>
                <a:latin typeface="Helvetica World Bold"/>
                <a:ea typeface="Helvetica World Bold"/>
                <a:cs typeface="Helvetica World Bold"/>
                <a:sym typeface="Helvetica World Bold"/>
              </a:rPr>
              <a:t>Kesimpulan</a:t>
            </a:r>
          </a:p>
        </p:txBody>
      </p:sp>
      <p:sp>
        <p:nvSpPr>
          <p:cNvPr name="TextBox 10" id="10"/>
          <p:cNvSpPr txBox="true"/>
          <p:nvPr/>
        </p:nvSpPr>
        <p:spPr>
          <a:xfrm rot="0">
            <a:off x="10536152" y="1658672"/>
            <a:ext cx="3754748" cy="431996"/>
          </a:xfrm>
          <a:prstGeom prst="rect">
            <a:avLst/>
          </a:prstGeom>
        </p:spPr>
        <p:txBody>
          <a:bodyPr anchor="t" rtlCol="false" tIns="0" lIns="0" bIns="0" rIns="0">
            <a:spAutoFit/>
          </a:bodyPr>
          <a:lstStyle/>
          <a:p>
            <a:pPr algn="l">
              <a:lnSpc>
                <a:spcPts val="3359"/>
              </a:lnSpc>
              <a:spcBef>
                <a:spcPct val="0"/>
              </a:spcBef>
            </a:pPr>
            <a:r>
              <a:rPr lang="en-US" b="true" sz="2400" spc="-105">
                <a:solidFill>
                  <a:srgbClr val="000000"/>
                </a:solidFill>
                <a:latin typeface="Helvetica World Bold"/>
                <a:ea typeface="Helvetica World Bold"/>
                <a:cs typeface="Helvetica World Bold"/>
                <a:sym typeface="Helvetica World Bold"/>
              </a:rPr>
              <a:t>Pengembangan Selanjutnya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EF8EF"/>
        </a:solidFill>
      </p:bgPr>
    </p:bg>
    <p:spTree>
      <p:nvGrpSpPr>
        <p:cNvPr id="1" name=""/>
        <p:cNvGrpSpPr/>
        <p:nvPr/>
      </p:nvGrpSpPr>
      <p:grpSpPr>
        <a:xfrm>
          <a:off x="0" y="0"/>
          <a:ext cx="0" cy="0"/>
          <a:chOff x="0" y="0"/>
          <a:chExt cx="0" cy="0"/>
        </a:xfrm>
      </p:grpSpPr>
      <p:sp>
        <p:nvSpPr>
          <p:cNvPr name="Freeform 2" id="2"/>
          <p:cNvSpPr/>
          <p:nvPr/>
        </p:nvSpPr>
        <p:spPr>
          <a:xfrm flipH="false" flipV="false" rot="-8404214">
            <a:off x="6456600" y="-1220502"/>
            <a:ext cx="20885479" cy="13138865"/>
          </a:xfrm>
          <a:custGeom>
            <a:avLst/>
            <a:gdLst/>
            <a:ahLst/>
            <a:cxnLst/>
            <a:rect r="r" b="b" t="t" l="l"/>
            <a:pathLst>
              <a:path h="13138865" w="20885479">
                <a:moveTo>
                  <a:pt x="0" y="0"/>
                </a:moveTo>
                <a:lnTo>
                  <a:pt x="20885479" y="0"/>
                </a:lnTo>
                <a:lnTo>
                  <a:pt x="20885479" y="13138864"/>
                </a:lnTo>
                <a:lnTo>
                  <a:pt x="0" y="13138864"/>
                </a:lnTo>
                <a:lnTo>
                  <a:pt x="0" y="0"/>
                </a:lnTo>
                <a:close/>
              </a:path>
            </a:pathLst>
          </a:custGeom>
          <a:blipFill>
            <a:blip r:embed="rId2"/>
            <a:stretch>
              <a:fillRect l="0" t="0" r="0" b="0"/>
            </a:stretch>
          </a:blipFill>
        </p:spPr>
      </p:sp>
      <p:sp>
        <p:nvSpPr>
          <p:cNvPr name="TextBox 3" id="3"/>
          <p:cNvSpPr txBox="true"/>
          <p:nvPr/>
        </p:nvSpPr>
        <p:spPr>
          <a:xfrm rot="0">
            <a:off x="15418658" y="9344025"/>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17/18</a:t>
            </a:r>
          </a:p>
        </p:txBody>
      </p:sp>
      <p:sp>
        <p:nvSpPr>
          <p:cNvPr name="TextBox 4" id="4"/>
          <p:cNvSpPr txBox="true"/>
          <p:nvPr/>
        </p:nvSpPr>
        <p:spPr>
          <a:xfrm rot="0">
            <a:off x="672876" y="9344025"/>
            <a:ext cx="4231734" cy="307678"/>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000000"/>
                </a:solidFill>
                <a:latin typeface="Helvetica World Bold"/>
                <a:ea typeface="Helvetica World Bold"/>
                <a:cs typeface="Helvetica World Bold"/>
                <a:sym typeface="Helvetica World Bold"/>
              </a:rPr>
              <a:t>Kelompok 11</a:t>
            </a:r>
          </a:p>
        </p:txBody>
      </p:sp>
      <p:sp>
        <p:nvSpPr>
          <p:cNvPr name="TextBox 5" id="5"/>
          <p:cNvSpPr txBox="true"/>
          <p:nvPr/>
        </p:nvSpPr>
        <p:spPr>
          <a:xfrm rot="0">
            <a:off x="696502" y="1114608"/>
            <a:ext cx="13142094" cy="1508740"/>
          </a:xfrm>
          <a:prstGeom prst="rect">
            <a:avLst/>
          </a:prstGeom>
        </p:spPr>
        <p:txBody>
          <a:bodyPr anchor="t" rtlCol="false" tIns="0" lIns="0" bIns="0" rIns="0">
            <a:spAutoFit/>
          </a:bodyPr>
          <a:lstStyle/>
          <a:p>
            <a:pPr algn="l">
              <a:lnSpc>
                <a:spcPts val="9282"/>
              </a:lnSpc>
            </a:pPr>
            <a:r>
              <a:rPr lang="en-US" b="true" sz="11900" spc="-523">
                <a:solidFill>
                  <a:srgbClr val="000000"/>
                </a:solidFill>
                <a:latin typeface="Helvetica World Bold"/>
                <a:ea typeface="Helvetica World Bold"/>
                <a:cs typeface="Helvetica World Bold"/>
                <a:sym typeface="Helvetica World Bold"/>
              </a:rPr>
              <a:t>Referensi</a:t>
            </a:r>
          </a:p>
        </p:txBody>
      </p:sp>
      <p:sp>
        <p:nvSpPr>
          <p:cNvPr name="Freeform 6" id="6"/>
          <p:cNvSpPr/>
          <p:nvPr/>
        </p:nvSpPr>
        <p:spPr>
          <a:xfrm flipH="false" flipV="false" rot="0">
            <a:off x="16901408" y="1381797"/>
            <a:ext cx="715784" cy="715784"/>
          </a:xfrm>
          <a:custGeom>
            <a:avLst/>
            <a:gdLst/>
            <a:ahLst/>
            <a:cxnLst/>
            <a:rect r="r" b="b" t="t" l="l"/>
            <a:pathLst>
              <a:path h="715784" w="715784">
                <a:moveTo>
                  <a:pt x="0" y="0"/>
                </a:moveTo>
                <a:lnTo>
                  <a:pt x="715784" y="0"/>
                </a:lnTo>
                <a:lnTo>
                  <a:pt x="715784" y="715784"/>
                </a:lnTo>
                <a:lnTo>
                  <a:pt x="0" y="7157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672876" y="3502032"/>
            <a:ext cx="12309983" cy="3646170"/>
          </a:xfrm>
          <a:prstGeom prst="rect">
            <a:avLst/>
          </a:prstGeom>
        </p:spPr>
        <p:txBody>
          <a:bodyPr anchor="t" rtlCol="false" tIns="0" lIns="0" bIns="0" rIns="0">
            <a:spAutoFit/>
          </a:bodyPr>
          <a:lstStyle/>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Ba</a:t>
            </a:r>
            <a:r>
              <a:rPr lang="en-US" sz="1799">
                <a:solidFill>
                  <a:srgbClr val="000000"/>
                </a:solidFill>
                <a:latin typeface="Helvetica World"/>
                <a:ea typeface="Helvetica World"/>
                <a:cs typeface="Helvetica World"/>
                <a:sym typeface="Helvetica World"/>
              </a:rPr>
              <a:t>dan Pengembangan dan Pembinaan Bahasa. (2022). Kamus Besar Bahasa    Indonesia (KBBI) Daring. https://kbbi.kemdikbud.go.id</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Cormen, T. H., Leiserson, C. E., Rivest, R. L., &amp; Stein, C. (2022). Introduction to algorithms (4th ed.). MIT Press.</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Ethnologue. (2023). Languages of Indonesia. SIL International. https://www.ethnologue.com/country/ID</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Fredkin, E. (1960). Trie memory. Communications of the ACM, 3(9), 490–499. https://doi.org/10.1145/367390.367400</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Goodrich, M. T., Goldwasser, M. H., &amp; Tamassia, R. (2022). Data structures and algorithms in Python. John Wiley &amp; Sons.</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Levenshtein, V. I. (1966). Binary codes capable of correcting deletions, insertions, and reversals. Soviet Physics Doklady, 10(8), 707–710.</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Python Software Foundation. (2025). json — JSON encoder and decoder. https://docs.python.org/3/library/json.html</a:t>
            </a:r>
          </a:p>
          <a:p>
            <a:pPr algn="l" marL="388618" indent="-194309" lvl="1">
              <a:lnSpc>
                <a:spcPts val="2699"/>
              </a:lnSpc>
              <a:buFont typeface="Arial"/>
              <a:buChar char="•"/>
            </a:pPr>
            <a:r>
              <a:rPr lang="en-US" sz="1799">
                <a:solidFill>
                  <a:srgbClr val="000000"/>
                </a:solidFill>
                <a:latin typeface="Helvetica World"/>
                <a:ea typeface="Helvetica World"/>
                <a:cs typeface="Helvetica World"/>
                <a:sym typeface="Helvetica World"/>
              </a:rPr>
              <a:t>Python Software Foundation. (2025). Python documentation. https://docs.python.org/3/</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true" flipV="false" rot="0">
            <a:off x="7172384" y="1226630"/>
            <a:ext cx="20885479" cy="13138865"/>
          </a:xfrm>
          <a:custGeom>
            <a:avLst/>
            <a:gdLst/>
            <a:ahLst/>
            <a:cxnLst/>
            <a:rect r="r" b="b" t="t" l="l"/>
            <a:pathLst>
              <a:path h="13138865" w="20885479">
                <a:moveTo>
                  <a:pt x="20885479" y="0"/>
                </a:moveTo>
                <a:lnTo>
                  <a:pt x="0" y="0"/>
                </a:lnTo>
                <a:lnTo>
                  <a:pt x="0" y="13138864"/>
                </a:lnTo>
                <a:lnTo>
                  <a:pt x="20885479" y="13138864"/>
                </a:lnTo>
                <a:lnTo>
                  <a:pt x="20885479" y="0"/>
                </a:lnTo>
                <a:close/>
              </a:path>
            </a:pathLst>
          </a:custGeom>
          <a:blipFill>
            <a:blip r:embed="rId2"/>
            <a:stretch>
              <a:fillRect l="0" t="0" r="0" b="0"/>
            </a:stretch>
          </a:blipFill>
        </p:spPr>
      </p:sp>
      <p:sp>
        <p:nvSpPr>
          <p:cNvPr name="TextBox 3" id="3"/>
          <p:cNvSpPr txBox="true"/>
          <p:nvPr/>
        </p:nvSpPr>
        <p:spPr>
          <a:xfrm rot="0">
            <a:off x="672876" y="5284641"/>
            <a:ext cx="10331942" cy="4598118"/>
          </a:xfrm>
          <a:prstGeom prst="rect">
            <a:avLst/>
          </a:prstGeom>
        </p:spPr>
        <p:txBody>
          <a:bodyPr anchor="t" rtlCol="false" tIns="0" lIns="0" bIns="0" rIns="0">
            <a:spAutoFit/>
          </a:bodyPr>
          <a:lstStyle/>
          <a:p>
            <a:pPr algn="l">
              <a:lnSpc>
                <a:spcPts val="15048"/>
              </a:lnSpc>
            </a:pPr>
            <a:r>
              <a:rPr lang="en-US" b="true" sz="19292" spc="-848">
                <a:solidFill>
                  <a:srgbClr val="FEF8EF"/>
                </a:solidFill>
                <a:latin typeface="Helvetica World Bold"/>
                <a:ea typeface="Helvetica World Bold"/>
                <a:cs typeface="Helvetica World Bold"/>
                <a:sym typeface="Helvetica World Bold"/>
              </a:rPr>
              <a:t>Thank You</a:t>
            </a:r>
          </a:p>
        </p:txBody>
      </p:sp>
      <p:sp>
        <p:nvSpPr>
          <p:cNvPr name="TextBox 4" id="4"/>
          <p:cNvSpPr txBox="true"/>
          <p:nvPr/>
        </p:nvSpPr>
        <p:spPr>
          <a:xfrm rot="0">
            <a:off x="15418658" y="9344025"/>
            <a:ext cx="2196466" cy="307678"/>
          </a:xfrm>
          <a:prstGeom prst="rect">
            <a:avLst/>
          </a:prstGeom>
        </p:spPr>
        <p:txBody>
          <a:bodyPr anchor="t" rtlCol="false" tIns="0" lIns="0" bIns="0" rIns="0">
            <a:spAutoFit/>
          </a:bodyPr>
          <a:lstStyle/>
          <a:p>
            <a:pPr algn="r" marL="0" indent="0" lvl="0">
              <a:lnSpc>
                <a:spcPts val="2088"/>
              </a:lnSpc>
              <a:spcBef>
                <a:spcPct val="0"/>
              </a:spcBef>
            </a:pPr>
            <a:r>
              <a:rPr lang="en-US" b="true" sz="2400" spc="-105">
                <a:solidFill>
                  <a:srgbClr val="FEF8EF"/>
                </a:solidFill>
                <a:latin typeface="Helvetica World Bold"/>
                <a:ea typeface="Helvetica World Bold"/>
                <a:cs typeface="Helvetica World Bold"/>
                <a:sym typeface="Helvetica World Bold"/>
              </a:rPr>
              <a:t>18/18</a:t>
            </a:r>
          </a:p>
        </p:txBody>
      </p:sp>
      <p:sp>
        <p:nvSpPr>
          <p:cNvPr name="Freeform 5" id="5"/>
          <p:cNvSpPr/>
          <p:nvPr/>
        </p:nvSpPr>
        <p:spPr>
          <a:xfrm flipH="false" flipV="false" rot="0">
            <a:off x="16899339" y="868737"/>
            <a:ext cx="715784" cy="715784"/>
          </a:xfrm>
          <a:custGeom>
            <a:avLst/>
            <a:gdLst/>
            <a:ahLst/>
            <a:cxnLst/>
            <a:rect r="r" b="b" t="t" l="l"/>
            <a:pathLst>
              <a:path h="715784" w="715784">
                <a:moveTo>
                  <a:pt x="0" y="0"/>
                </a:moveTo>
                <a:lnTo>
                  <a:pt x="715785" y="0"/>
                </a:lnTo>
                <a:lnTo>
                  <a:pt x="715785" y="715785"/>
                </a:lnTo>
                <a:lnTo>
                  <a:pt x="0" y="7157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672876" y="756533"/>
            <a:ext cx="4142994" cy="310134"/>
          </a:xfrm>
          <a:prstGeom prst="rect">
            <a:avLst/>
          </a:prstGeom>
        </p:spPr>
        <p:txBody>
          <a:bodyPr anchor="t" rtlCol="false" tIns="0" lIns="0" bIns="0" rIns="0">
            <a:spAutoFit/>
          </a:bodyPr>
          <a:lstStyle/>
          <a:p>
            <a:pPr algn="l" marL="0" indent="0" lvl="0">
              <a:lnSpc>
                <a:spcPts val="2088"/>
              </a:lnSpc>
              <a:spcBef>
                <a:spcPct val="0"/>
              </a:spcBef>
            </a:pPr>
            <a:r>
              <a:rPr lang="en-US" b="true" sz="2400" spc="-105">
                <a:solidFill>
                  <a:srgbClr val="FEF8EF"/>
                </a:solidFill>
                <a:latin typeface="Helvetica World Bold"/>
                <a:ea typeface="Helvetica World Bold"/>
                <a:cs typeface="Helvetica World Bold"/>
                <a:sym typeface="Helvetica World Bold"/>
              </a:rPr>
              <a:t>Kelompok 11:</a:t>
            </a:r>
          </a:p>
        </p:txBody>
      </p:sp>
      <p:sp>
        <p:nvSpPr>
          <p:cNvPr name="TextBox 7" id="7"/>
          <p:cNvSpPr txBox="true"/>
          <p:nvPr/>
        </p:nvSpPr>
        <p:spPr>
          <a:xfrm rot="0">
            <a:off x="682401" y="1133342"/>
            <a:ext cx="4517199" cy="645795"/>
          </a:xfrm>
          <a:prstGeom prst="rect">
            <a:avLst/>
          </a:prstGeom>
        </p:spPr>
        <p:txBody>
          <a:bodyPr anchor="t" rtlCol="false" tIns="0" lIns="0" bIns="0" rIns="0">
            <a:spAutoFit/>
          </a:bodyPr>
          <a:lstStyle/>
          <a:p>
            <a:pPr algn="l">
              <a:lnSpc>
                <a:spcPts val="2699"/>
              </a:lnSpc>
            </a:pPr>
            <a:r>
              <a:rPr lang="en-US" sz="1799">
                <a:solidFill>
                  <a:srgbClr val="FEF8EF"/>
                </a:solidFill>
                <a:latin typeface="Helvetica World"/>
                <a:ea typeface="Helvetica World"/>
                <a:cs typeface="Helvetica World"/>
                <a:sym typeface="Helvetica World"/>
              </a:rPr>
              <a:t>ZAKI YUSRON HASYIMMI - 250414010</a:t>
            </a:r>
          </a:p>
          <a:p>
            <a:pPr algn="l">
              <a:lnSpc>
                <a:spcPts val="2699"/>
              </a:lnSpc>
            </a:pPr>
            <a:r>
              <a:rPr lang="en-US" sz="1799">
                <a:solidFill>
                  <a:srgbClr val="FEF8EF"/>
                </a:solidFill>
                <a:latin typeface="Helvetica World"/>
                <a:ea typeface="Helvetica World"/>
                <a:cs typeface="Helvetica World"/>
                <a:sym typeface="Helvetica World"/>
              </a:rPr>
              <a:t>RENJIRO MULYAWISESA - 250414038</a:t>
            </a:r>
          </a:p>
        </p:txBody>
      </p:sp>
      <p:sp>
        <p:nvSpPr>
          <p:cNvPr name="TextBox 8" id="8"/>
          <p:cNvSpPr txBox="true"/>
          <p:nvPr/>
        </p:nvSpPr>
        <p:spPr>
          <a:xfrm rot="0">
            <a:off x="5479188" y="1133342"/>
            <a:ext cx="4517199" cy="645795"/>
          </a:xfrm>
          <a:prstGeom prst="rect">
            <a:avLst/>
          </a:prstGeom>
        </p:spPr>
        <p:txBody>
          <a:bodyPr anchor="t" rtlCol="false" tIns="0" lIns="0" bIns="0" rIns="0">
            <a:spAutoFit/>
          </a:bodyPr>
          <a:lstStyle/>
          <a:p>
            <a:pPr algn="l">
              <a:lnSpc>
                <a:spcPts val="2699"/>
              </a:lnSpc>
            </a:pPr>
            <a:r>
              <a:rPr lang="en-US" sz="1799">
                <a:solidFill>
                  <a:srgbClr val="FEF8EF"/>
                </a:solidFill>
                <a:latin typeface="Helvetica World"/>
                <a:ea typeface="Helvetica World"/>
                <a:cs typeface="Helvetica World"/>
                <a:sym typeface="Helvetica World"/>
              </a:rPr>
              <a:t>RASYA HILALUN NADHIR - 250414040</a:t>
            </a:r>
          </a:p>
          <a:p>
            <a:pPr algn="l">
              <a:lnSpc>
                <a:spcPts val="2699"/>
              </a:lnSpc>
            </a:pPr>
            <a:r>
              <a:rPr lang="en-US" sz="1799">
                <a:solidFill>
                  <a:srgbClr val="FEF8EF"/>
                </a:solidFill>
                <a:latin typeface="Helvetica World"/>
                <a:ea typeface="Helvetica World"/>
                <a:cs typeface="Helvetica World"/>
                <a:sym typeface="Helvetica World"/>
              </a:rPr>
              <a:t>AGNA ARYAPUTRA RAHMAN - 250414019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DAHOsE6igsU</dc:identifier>
  <dcterms:modified xsi:type="dcterms:W3CDTF">2011-08-01T06:04:30Z</dcterms:modified>
  <cp:revision>1</cp:revision>
  <dc:title>INGOUDE COMPANY</dc:title>
</cp:coreProperties>
</file>